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nton Italics" charset="1" panose="00000500000000000000"/>
      <p:regular r:id="rId25"/>
    </p:embeddedFont>
    <p:embeddedFont>
      <p:font typeface="Open Sauce" charset="1" panose="00000500000000000000"/>
      <p:regular r:id="rId26"/>
    </p:embeddedFont>
    <p:embeddedFont>
      <p:font typeface="Open Sauce Bold" charset="1" panose="00000800000000000000"/>
      <p:regular r:id="rId27"/>
    </p:embeddedFont>
    <p:embeddedFont>
      <p:font typeface="Open Sauce Bold Italics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3.jpe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3.jpe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5.jpeg" Type="http://schemas.openxmlformats.org/officeDocument/2006/relationships/image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png" Type="http://schemas.openxmlformats.org/officeDocument/2006/relationships/image"/><Relationship Id="rId8" Target="../media/image21.jpe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5.jpe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5.jpe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5.jpe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jpeg" Type="http://schemas.openxmlformats.org/officeDocument/2006/relationships/image"/><Relationship Id="rId4" Target="../media/image25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1.jpe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5.jpe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9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9.jpe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9.jpe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jpeg" Type="http://schemas.openxmlformats.org/officeDocument/2006/relationships/image"/><Relationship Id="rId4" Target="../media/image39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3.jpeg" Type="http://schemas.openxmlformats.org/officeDocument/2006/relationships/image"/><Relationship Id="rId3" Target="../media/image21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5.jpe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6793741" y="2713355"/>
            <a:ext cx="11494259" cy="4413086"/>
            <a:chOff x="0" y="0"/>
            <a:chExt cx="3027295" cy="1162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27294" cy="1162294"/>
            </a:xfrm>
            <a:custGeom>
              <a:avLst/>
              <a:gdLst/>
              <a:ahLst/>
              <a:cxnLst/>
              <a:rect r="r" b="b" t="t" l="l"/>
              <a:pathLst>
                <a:path h="1162294" w="3027294">
                  <a:moveTo>
                    <a:pt x="0" y="0"/>
                  </a:moveTo>
                  <a:lnTo>
                    <a:pt x="3027294" y="0"/>
                  </a:lnTo>
                  <a:lnTo>
                    <a:pt x="3027294" y="1162294"/>
                  </a:lnTo>
                  <a:lnTo>
                    <a:pt x="0" y="116229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027295" cy="119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6498" y="9086828"/>
            <a:ext cx="688285" cy="6882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419100" cy="419100"/>
            <a:chOff x="0" y="0"/>
            <a:chExt cx="647700" cy="647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81666" y="2979412"/>
            <a:ext cx="16982813" cy="429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3"/>
              </a:lnSpc>
            </a:pPr>
            <a:r>
              <a:rPr lang="en-US" sz="17235" i="true" spc="-68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PROYECTO WEB: FUEGO &amp; SAZÓN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8058" y="1028700"/>
            <a:ext cx="111093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1666" y="7269958"/>
            <a:ext cx="12835088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PLATAFORMA DIGITAL INTERACTIVA PARA RESTAURANTE DE PARRILLAS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8505" y="9430970"/>
            <a:ext cx="171186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Los Marcianos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8505" y="9183320"/>
            <a:ext cx="171186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2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Grupo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2134183" y="7922479"/>
            <a:ext cx="1238250" cy="3490793"/>
            <a:chOff x="0" y="0"/>
            <a:chExt cx="326123" cy="919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123" cy="919386"/>
            </a:xfrm>
            <a:custGeom>
              <a:avLst/>
              <a:gdLst/>
              <a:ahLst/>
              <a:cxnLst/>
              <a:rect r="r" b="b" t="t" l="l"/>
              <a:pathLst>
                <a:path h="919386" w="326123">
                  <a:moveTo>
                    <a:pt x="0" y="0"/>
                  </a:moveTo>
                  <a:lnTo>
                    <a:pt x="326123" y="0"/>
                  </a:lnTo>
                  <a:lnTo>
                    <a:pt x="32612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612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42193"/>
            <a:ext cx="8115300" cy="3654992"/>
            <a:chOff x="0" y="0"/>
            <a:chExt cx="845947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59470" cy="3808730"/>
            </a:xfrm>
            <a:custGeom>
              <a:avLst/>
              <a:gdLst/>
              <a:ahLst/>
              <a:cxnLst/>
              <a:rect r="r" b="b" t="t" l="l"/>
              <a:pathLst>
                <a:path h="3808730" w="845947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73" r="0" b="-477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03585" y="5143500"/>
            <a:ext cx="6855715" cy="4114800"/>
            <a:chOff x="0" y="0"/>
            <a:chExt cx="6350000" cy="38112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3811270"/>
            </a:xfrm>
            <a:custGeom>
              <a:avLst/>
              <a:gdLst/>
              <a:ahLst/>
              <a:cxnLst/>
              <a:rect r="r" b="b" t="t" l="l"/>
              <a:pathLst>
                <a:path h="3811270" w="635000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40" r="0" b="-1037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96753" y="811102"/>
            <a:ext cx="10747209" cy="160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32"/>
              </a:lnSpc>
            </a:pPr>
            <a:r>
              <a:rPr lang="en-US" sz="12455" i="true" spc="-49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INTEGRANTES: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4204" y="2755971"/>
            <a:ext cx="8344498" cy="656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975" indent="-518488" lvl="1">
              <a:lnSpc>
                <a:spcPts val="5763"/>
              </a:lnSpc>
              <a:buFont typeface="Arial"/>
              <a:buChar char="•"/>
            </a:pPr>
            <a:r>
              <a:rPr lang="en-US" sz="4803" i="true" spc="-9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SANTOS CUADROS, JEAN PAUL GIOVANNY</a:t>
            </a:r>
          </a:p>
          <a:p>
            <a:pPr algn="l" marL="1036975" indent="-518488" lvl="1">
              <a:lnSpc>
                <a:spcPts val="5763"/>
              </a:lnSpc>
              <a:buFont typeface="Arial"/>
              <a:buChar char="•"/>
            </a:pPr>
            <a:r>
              <a:rPr lang="en-US" sz="4803" i="true" spc="-9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LEYVA TAKAHASHI, TAKESHI ANTHONY</a:t>
            </a:r>
          </a:p>
          <a:p>
            <a:pPr algn="l" marL="1036975" indent="-518488" lvl="1">
              <a:lnSpc>
                <a:spcPts val="5763"/>
              </a:lnSpc>
              <a:buFont typeface="Arial"/>
              <a:buChar char="•"/>
            </a:pPr>
            <a:r>
              <a:rPr lang="en-US" sz="4803" i="true" spc="-9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ÑAÑEZ PALOMINO, JHOANPIERO RAFAEL</a:t>
            </a:r>
          </a:p>
          <a:p>
            <a:pPr algn="l" marL="1036975" indent="-518488" lvl="1">
              <a:lnSpc>
                <a:spcPts val="5763"/>
              </a:lnSpc>
              <a:buFont typeface="Arial"/>
              <a:buChar char="•"/>
            </a:pPr>
            <a:r>
              <a:rPr lang="en-US" sz="4803" i="true" spc="-9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ANCAJIMA CASTRO, DAYRON RODRIGO</a:t>
            </a:r>
          </a:p>
          <a:p>
            <a:pPr algn="l" marL="1036975" indent="-518488" lvl="1">
              <a:lnSpc>
                <a:spcPts val="5763"/>
              </a:lnSpc>
              <a:buFont typeface="Arial"/>
              <a:buChar char="•"/>
            </a:pPr>
            <a:r>
              <a:rPr lang="en-US" sz="4803" i="true" spc="-9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PICON CANALES, LUCIANO ANDRÉ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36242" y="2418825"/>
            <a:ext cx="8464766" cy="7342823"/>
            <a:chOff x="0" y="0"/>
            <a:chExt cx="1452402" cy="12598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2402" cy="1259895"/>
            </a:xfrm>
            <a:custGeom>
              <a:avLst/>
              <a:gdLst/>
              <a:ahLst/>
              <a:cxnLst/>
              <a:rect r="r" b="b" t="t" l="l"/>
              <a:pathLst>
                <a:path h="1259895" w="1452402">
                  <a:moveTo>
                    <a:pt x="1452402" y="46645"/>
                  </a:moveTo>
                  <a:lnTo>
                    <a:pt x="1452402" y="1213250"/>
                  </a:lnTo>
                  <a:cubicBezTo>
                    <a:pt x="1452402" y="1239012"/>
                    <a:pt x="1431519" y="1259895"/>
                    <a:pt x="1405758" y="1259895"/>
                  </a:cubicBezTo>
                  <a:lnTo>
                    <a:pt x="46645" y="1259895"/>
                  </a:lnTo>
                  <a:cubicBezTo>
                    <a:pt x="34274" y="1259895"/>
                    <a:pt x="22410" y="1254981"/>
                    <a:pt x="13662" y="1246233"/>
                  </a:cubicBezTo>
                  <a:cubicBezTo>
                    <a:pt x="4914" y="1237486"/>
                    <a:pt x="0" y="1225621"/>
                    <a:pt x="0" y="1213250"/>
                  </a:cubicBezTo>
                  <a:lnTo>
                    <a:pt x="0" y="46645"/>
                  </a:lnTo>
                  <a:cubicBezTo>
                    <a:pt x="0" y="34274"/>
                    <a:pt x="4914" y="22410"/>
                    <a:pt x="13662" y="13662"/>
                  </a:cubicBezTo>
                  <a:cubicBezTo>
                    <a:pt x="22410" y="4914"/>
                    <a:pt x="34274" y="0"/>
                    <a:pt x="46645" y="0"/>
                  </a:cubicBezTo>
                  <a:lnTo>
                    <a:pt x="1405758" y="0"/>
                  </a:lnTo>
                  <a:cubicBezTo>
                    <a:pt x="1418129" y="0"/>
                    <a:pt x="1429993" y="4914"/>
                    <a:pt x="1438740" y="13662"/>
                  </a:cubicBezTo>
                  <a:cubicBezTo>
                    <a:pt x="1447488" y="22410"/>
                    <a:pt x="1452402" y="34274"/>
                    <a:pt x="1452402" y="46645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52402" cy="125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2238958" y="-1231046"/>
            <a:ext cx="1028700" cy="3490793"/>
            <a:chOff x="0" y="0"/>
            <a:chExt cx="270933" cy="919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0933" cy="919386"/>
            </a:xfrm>
            <a:custGeom>
              <a:avLst/>
              <a:gdLst/>
              <a:ahLst/>
              <a:cxnLst/>
              <a:rect r="r" b="b" t="t" l="l"/>
              <a:pathLst>
                <a:path h="91938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7093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3555" y="106252"/>
            <a:ext cx="419100" cy="419100"/>
            <a:chOff x="0" y="0"/>
            <a:chExt cx="647700" cy="647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62913" y="106252"/>
            <a:ext cx="111093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2668" y="3929496"/>
            <a:ext cx="7972062" cy="5810109"/>
            <a:chOff x="0" y="0"/>
            <a:chExt cx="1441468" cy="10505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1468" cy="1050553"/>
            </a:xfrm>
            <a:custGeom>
              <a:avLst/>
              <a:gdLst/>
              <a:ahLst/>
              <a:cxnLst/>
              <a:rect r="r" b="b" t="t" l="l"/>
              <a:pathLst>
                <a:path h="1050553" w="1441468">
                  <a:moveTo>
                    <a:pt x="1441468" y="49528"/>
                  </a:moveTo>
                  <a:lnTo>
                    <a:pt x="1441468" y="1001026"/>
                  </a:lnTo>
                  <a:cubicBezTo>
                    <a:pt x="1441468" y="1014161"/>
                    <a:pt x="1436250" y="1026759"/>
                    <a:pt x="1426962" y="1036047"/>
                  </a:cubicBezTo>
                  <a:cubicBezTo>
                    <a:pt x="1417674" y="1045335"/>
                    <a:pt x="1405076" y="1050553"/>
                    <a:pt x="1391941" y="1050553"/>
                  </a:cubicBezTo>
                  <a:lnTo>
                    <a:pt x="49528" y="1050553"/>
                  </a:lnTo>
                  <a:cubicBezTo>
                    <a:pt x="36392" y="1050553"/>
                    <a:pt x="23795" y="1045335"/>
                    <a:pt x="14506" y="1036047"/>
                  </a:cubicBezTo>
                  <a:cubicBezTo>
                    <a:pt x="5218" y="1026759"/>
                    <a:pt x="0" y="1014161"/>
                    <a:pt x="0" y="1001026"/>
                  </a:cubicBezTo>
                  <a:lnTo>
                    <a:pt x="0" y="49528"/>
                  </a:lnTo>
                  <a:cubicBezTo>
                    <a:pt x="0" y="36392"/>
                    <a:pt x="5218" y="23795"/>
                    <a:pt x="14506" y="14506"/>
                  </a:cubicBezTo>
                  <a:cubicBezTo>
                    <a:pt x="23795" y="5218"/>
                    <a:pt x="36392" y="0"/>
                    <a:pt x="49528" y="0"/>
                  </a:cubicBezTo>
                  <a:lnTo>
                    <a:pt x="1391941" y="0"/>
                  </a:lnTo>
                  <a:cubicBezTo>
                    <a:pt x="1419294" y="0"/>
                    <a:pt x="1441468" y="22174"/>
                    <a:pt x="1441468" y="49528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41468" cy="105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29915" y="3785529"/>
            <a:ext cx="7229385" cy="4297093"/>
            <a:chOff x="0" y="0"/>
            <a:chExt cx="2083114" cy="12381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114" cy="1238186"/>
            </a:xfrm>
            <a:custGeom>
              <a:avLst/>
              <a:gdLst/>
              <a:ahLst/>
              <a:cxnLst/>
              <a:rect r="r" b="b" t="t" l="l"/>
              <a:pathLst>
                <a:path h="1238186" w="2083114">
                  <a:moveTo>
                    <a:pt x="2083114" y="54616"/>
                  </a:moveTo>
                  <a:lnTo>
                    <a:pt x="2083114" y="1183570"/>
                  </a:lnTo>
                  <a:cubicBezTo>
                    <a:pt x="2083114" y="1198055"/>
                    <a:pt x="2077360" y="1211947"/>
                    <a:pt x="2067117" y="1222189"/>
                  </a:cubicBezTo>
                  <a:cubicBezTo>
                    <a:pt x="2056875" y="1232432"/>
                    <a:pt x="2042983" y="1238186"/>
                    <a:pt x="2028498" y="1238186"/>
                  </a:cubicBezTo>
                  <a:lnTo>
                    <a:pt x="54616" y="1238186"/>
                  </a:lnTo>
                  <a:cubicBezTo>
                    <a:pt x="40131" y="1238186"/>
                    <a:pt x="26239" y="1232432"/>
                    <a:pt x="15997" y="1222189"/>
                  </a:cubicBezTo>
                  <a:cubicBezTo>
                    <a:pt x="5754" y="1211947"/>
                    <a:pt x="0" y="1198055"/>
                    <a:pt x="0" y="1183570"/>
                  </a:cubicBezTo>
                  <a:lnTo>
                    <a:pt x="0" y="54616"/>
                  </a:lnTo>
                  <a:cubicBezTo>
                    <a:pt x="0" y="40131"/>
                    <a:pt x="5754" y="26239"/>
                    <a:pt x="15997" y="15997"/>
                  </a:cubicBezTo>
                  <a:cubicBezTo>
                    <a:pt x="26239" y="5754"/>
                    <a:pt x="40131" y="0"/>
                    <a:pt x="54616" y="0"/>
                  </a:cubicBezTo>
                  <a:lnTo>
                    <a:pt x="2028498" y="0"/>
                  </a:lnTo>
                  <a:cubicBezTo>
                    <a:pt x="2042983" y="0"/>
                    <a:pt x="2056875" y="5754"/>
                    <a:pt x="2067117" y="15997"/>
                  </a:cubicBezTo>
                  <a:cubicBezTo>
                    <a:pt x="2077360" y="26239"/>
                    <a:pt x="2083114" y="40131"/>
                    <a:pt x="2083114" y="54616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83114" cy="1238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870381" y="8406472"/>
            <a:ext cx="1279672" cy="1599590"/>
          </a:xfrm>
          <a:custGeom>
            <a:avLst/>
            <a:gdLst/>
            <a:ahLst/>
            <a:cxnLst/>
            <a:rect r="r" b="b" t="t" l="l"/>
            <a:pathLst>
              <a:path h="1599590" w="1279672">
                <a:moveTo>
                  <a:pt x="0" y="0"/>
                </a:moveTo>
                <a:lnTo>
                  <a:pt x="1279672" y="0"/>
                </a:lnTo>
                <a:lnTo>
                  <a:pt x="1279672" y="1599591"/>
                </a:lnTo>
                <a:lnTo>
                  <a:pt x="0" y="1599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56118" y="8406472"/>
            <a:ext cx="1559601" cy="1599590"/>
          </a:xfrm>
          <a:custGeom>
            <a:avLst/>
            <a:gdLst/>
            <a:ahLst/>
            <a:cxnLst/>
            <a:rect r="r" b="b" t="t" l="l"/>
            <a:pathLst>
              <a:path h="1599590" w="1559601">
                <a:moveTo>
                  <a:pt x="0" y="0"/>
                </a:moveTo>
                <a:lnTo>
                  <a:pt x="1559601" y="0"/>
                </a:lnTo>
                <a:lnTo>
                  <a:pt x="1559601" y="1599591"/>
                </a:lnTo>
                <a:lnTo>
                  <a:pt x="0" y="1599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25185" y="8406472"/>
            <a:ext cx="1599590" cy="1599590"/>
          </a:xfrm>
          <a:custGeom>
            <a:avLst/>
            <a:gdLst/>
            <a:ahLst/>
            <a:cxnLst/>
            <a:rect r="r" b="b" t="t" l="l"/>
            <a:pathLst>
              <a:path h="1599590" w="1599590">
                <a:moveTo>
                  <a:pt x="0" y="0"/>
                </a:moveTo>
                <a:lnTo>
                  <a:pt x="1599590" y="0"/>
                </a:lnTo>
                <a:lnTo>
                  <a:pt x="1599590" y="1599591"/>
                </a:lnTo>
                <a:lnTo>
                  <a:pt x="0" y="1599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57490" y="8406472"/>
            <a:ext cx="1399642" cy="1599590"/>
          </a:xfrm>
          <a:custGeom>
            <a:avLst/>
            <a:gdLst/>
            <a:ahLst/>
            <a:cxnLst/>
            <a:rect r="r" b="b" t="t" l="l"/>
            <a:pathLst>
              <a:path h="1599590" w="1399642">
                <a:moveTo>
                  <a:pt x="0" y="0"/>
                </a:moveTo>
                <a:lnTo>
                  <a:pt x="1399642" y="0"/>
                </a:lnTo>
                <a:lnTo>
                  <a:pt x="1399642" y="1599591"/>
                </a:lnTo>
                <a:lnTo>
                  <a:pt x="0" y="15995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5486400" y="6537960"/>
            <a:ext cx="7315200" cy="182880"/>
          </a:xfrm>
          <a:custGeom>
            <a:avLst/>
            <a:gdLst/>
            <a:ahLst/>
            <a:cxnLst/>
            <a:rect r="r" b="b" t="t" l="l"/>
            <a:pathLst>
              <a:path h="182880" w="7315200">
                <a:moveTo>
                  <a:pt x="0" y="0"/>
                </a:moveTo>
                <a:lnTo>
                  <a:pt x="7315200" y="0"/>
                </a:lnTo>
                <a:lnTo>
                  <a:pt x="73152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9276" y="474751"/>
            <a:ext cx="14449448" cy="2184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0"/>
              </a:lnSpc>
            </a:pPr>
            <a:r>
              <a:rPr lang="en-US" sz="8800" i="true" spc="-352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AGENDA DEL PROYECTO Y TECNOLOGÍAS UTILIZADAS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94116" y="2980493"/>
            <a:ext cx="4109165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ÍNDICE DEL CONTENIDO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9655" y="4027507"/>
            <a:ext cx="7618088" cy="560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3932" indent="-396966" lvl="1">
              <a:lnSpc>
                <a:spcPts val="4412"/>
              </a:lnSpc>
              <a:buFont typeface="Arial"/>
              <a:buChar char="•"/>
            </a:pPr>
            <a:r>
              <a:rPr lang="en-US" sz="3677" spc="-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Identidad, Inicio y Productos Destacados.</a:t>
            </a:r>
          </a:p>
          <a:p>
            <a:pPr algn="l" marL="793932" indent="-396966" lvl="1">
              <a:lnSpc>
                <a:spcPts val="4412"/>
              </a:lnSpc>
              <a:buFont typeface="Arial"/>
              <a:buChar char="•"/>
            </a:pPr>
            <a:r>
              <a:rPr lang="en-US" sz="3677" spc="-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Catálogo Interactivo y Equipo Técnico.</a:t>
            </a:r>
          </a:p>
          <a:p>
            <a:pPr algn="l" marL="793932" indent="-396966" lvl="1">
              <a:lnSpc>
                <a:spcPts val="4412"/>
              </a:lnSpc>
              <a:buFont typeface="Arial"/>
              <a:buChar char="•"/>
            </a:pPr>
            <a:r>
              <a:rPr lang="en-US" sz="3677" spc="-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Sistema de Pedidos, Mapa y Pie de Página.</a:t>
            </a:r>
          </a:p>
          <a:p>
            <a:pPr algn="l" marL="793932" indent="-396966" lvl="1">
              <a:lnSpc>
                <a:spcPts val="4412"/>
              </a:lnSpc>
              <a:buFont typeface="Arial"/>
              <a:buChar char="•"/>
            </a:pPr>
            <a:r>
              <a:rPr lang="en-US" sz="3677" spc="-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Diseño Visual y Estilos Dark Mode.</a:t>
            </a:r>
          </a:p>
          <a:p>
            <a:pPr algn="l" marL="793932" indent="-396966" lvl="1">
              <a:lnSpc>
                <a:spcPts val="4412"/>
              </a:lnSpc>
              <a:buFont typeface="Arial"/>
              <a:buChar char="•"/>
            </a:pPr>
            <a:r>
              <a:rPr lang="en-US" sz="3677" spc="-7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Lógica Interactiva y Carrito en Tiempo Real.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57490" y="3990976"/>
            <a:ext cx="6758228" cy="389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155" indent="-282077" lvl="1">
              <a:lnSpc>
                <a:spcPts val="3135"/>
              </a:lnSpc>
              <a:buFont typeface="Arial"/>
              <a:buChar char="•"/>
            </a:pPr>
            <a:r>
              <a:rPr lang="en-US" sz="2613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HTML5: Estructuración semántica de la página.</a:t>
            </a:r>
          </a:p>
          <a:p>
            <a:pPr algn="l" marL="564155" indent="-282077" lvl="1">
              <a:lnSpc>
                <a:spcPts val="3135"/>
              </a:lnSpc>
              <a:buFont typeface="Arial"/>
              <a:buChar char="•"/>
            </a:pPr>
            <a:r>
              <a:rPr lang="en-US" sz="2613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CSS3: Personalización del estilo visual, colores Dark Mode neón y animaciones.</a:t>
            </a:r>
          </a:p>
          <a:p>
            <a:pPr algn="l" marL="564155" indent="-282077" lvl="1">
              <a:lnSpc>
                <a:spcPts val="3135"/>
              </a:lnSpc>
              <a:buFont typeface="Arial"/>
              <a:buChar char="•"/>
            </a:pPr>
            <a:r>
              <a:rPr lang="en-US" sz="2613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Bootstrap 5 (v5.3.3): Sistema de rejilla adaptativo (Grid System) e integración de componentes.</a:t>
            </a:r>
          </a:p>
          <a:p>
            <a:pPr algn="l" marL="564155" indent="-282077" lvl="1">
              <a:lnSpc>
                <a:spcPts val="3135"/>
              </a:lnSpc>
              <a:buFont typeface="Arial"/>
              <a:buChar char="•"/>
            </a:pPr>
            <a:r>
              <a:rPr lang="en-US" sz="2613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JavaScript (ES6): Manipulación del DOM, lógica del carrito de compras y cálculos en tiempo real.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22126" y="2980493"/>
            <a:ext cx="4828957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TECNOLOGÍAS UTILIZADAS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59851" y="8557790"/>
            <a:ext cx="1502434" cy="1435460"/>
            <a:chOff x="0" y="0"/>
            <a:chExt cx="769616" cy="7353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9616" cy="735307"/>
            </a:xfrm>
            <a:custGeom>
              <a:avLst/>
              <a:gdLst/>
              <a:ahLst/>
              <a:cxnLst/>
              <a:rect r="r" b="b" t="t" l="l"/>
              <a:pathLst>
                <a:path h="735307" w="769616">
                  <a:moveTo>
                    <a:pt x="769616" y="262799"/>
                  </a:moveTo>
                  <a:lnTo>
                    <a:pt x="769616" y="472509"/>
                  </a:lnTo>
                  <a:cubicBezTo>
                    <a:pt x="769616" y="542207"/>
                    <a:pt x="741928" y="609051"/>
                    <a:pt x="692644" y="658335"/>
                  </a:cubicBezTo>
                  <a:cubicBezTo>
                    <a:pt x="643359" y="707620"/>
                    <a:pt x="576515" y="735307"/>
                    <a:pt x="506817" y="735307"/>
                  </a:cubicBezTo>
                  <a:lnTo>
                    <a:pt x="262799" y="735307"/>
                  </a:lnTo>
                  <a:cubicBezTo>
                    <a:pt x="193100" y="735307"/>
                    <a:pt x="126256" y="707620"/>
                    <a:pt x="76972" y="658335"/>
                  </a:cubicBezTo>
                  <a:cubicBezTo>
                    <a:pt x="27688" y="609051"/>
                    <a:pt x="0" y="542207"/>
                    <a:pt x="0" y="472509"/>
                  </a:cubicBezTo>
                  <a:lnTo>
                    <a:pt x="0" y="262799"/>
                  </a:lnTo>
                  <a:cubicBezTo>
                    <a:pt x="0" y="193100"/>
                    <a:pt x="27688" y="126256"/>
                    <a:pt x="76972" y="76972"/>
                  </a:cubicBezTo>
                  <a:cubicBezTo>
                    <a:pt x="126256" y="27688"/>
                    <a:pt x="193100" y="0"/>
                    <a:pt x="262799" y="0"/>
                  </a:cubicBezTo>
                  <a:lnTo>
                    <a:pt x="506817" y="0"/>
                  </a:lnTo>
                  <a:cubicBezTo>
                    <a:pt x="576515" y="0"/>
                    <a:pt x="643359" y="27688"/>
                    <a:pt x="692644" y="76972"/>
                  </a:cubicBezTo>
                  <a:cubicBezTo>
                    <a:pt x="741928" y="126256"/>
                    <a:pt x="769616" y="193100"/>
                    <a:pt x="769616" y="262799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769616" cy="73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497026" y="9259020"/>
            <a:ext cx="1069906" cy="734230"/>
            <a:chOff x="0" y="0"/>
            <a:chExt cx="868700" cy="5961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8700" cy="596151"/>
            </a:xfrm>
            <a:custGeom>
              <a:avLst/>
              <a:gdLst/>
              <a:ahLst/>
              <a:cxnLst/>
              <a:rect r="r" b="b" t="t" l="l"/>
              <a:pathLst>
                <a:path h="596151" w="868700">
                  <a:moveTo>
                    <a:pt x="0" y="0"/>
                  </a:moveTo>
                  <a:lnTo>
                    <a:pt x="868700" y="0"/>
                  </a:lnTo>
                  <a:lnTo>
                    <a:pt x="868700" y="596151"/>
                  </a:lnTo>
                  <a:lnTo>
                    <a:pt x="0" y="596151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68700" cy="624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776682" y="7804641"/>
            <a:ext cx="4100587" cy="2143863"/>
            <a:chOff x="0" y="0"/>
            <a:chExt cx="10979719" cy="5740400"/>
          </a:xfrm>
        </p:grpSpPr>
        <p:sp>
          <p:nvSpPr>
            <p:cNvPr name="Freeform 10" id="10"/>
            <p:cNvSpPr/>
            <p:nvPr/>
          </p:nvSpPr>
          <p:spPr>
            <a:xfrm flipH="true" flipV="false" rot="0">
              <a:off x="0" y="0"/>
              <a:ext cx="10980989" cy="5741670"/>
            </a:xfrm>
            <a:custGeom>
              <a:avLst/>
              <a:gdLst/>
              <a:ahLst/>
              <a:cxnLst/>
              <a:rect r="r" b="b" t="t" l="l"/>
              <a:pathLst>
                <a:path h="5741670" w="10980989">
                  <a:moveTo>
                    <a:pt x="10980989" y="542290"/>
                  </a:moveTo>
                  <a:lnTo>
                    <a:pt x="10980989" y="2392680"/>
                  </a:lnTo>
                  <a:cubicBezTo>
                    <a:pt x="10980989" y="2691130"/>
                    <a:pt x="10561563" y="2933700"/>
                    <a:pt x="10043321" y="2933700"/>
                  </a:cubicBezTo>
                  <a:lnTo>
                    <a:pt x="8995856" y="2933700"/>
                  </a:lnTo>
                  <a:cubicBezTo>
                    <a:pt x="8477613" y="2933700"/>
                    <a:pt x="8058187" y="3176270"/>
                    <a:pt x="8058187" y="3475990"/>
                  </a:cubicBezTo>
                  <a:lnTo>
                    <a:pt x="8058187" y="5199380"/>
                  </a:lnTo>
                  <a:cubicBezTo>
                    <a:pt x="8058187" y="5499100"/>
                    <a:pt x="7638762" y="5741670"/>
                    <a:pt x="7120520" y="5741670"/>
                  </a:cubicBezTo>
                  <a:lnTo>
                    <a:pt x="4757684" y="5741670"/>
                  </a:lnTo>
                  <a:cubicBezTo>
                    <a:pt x="4522718" y="5741670"/>
                    <a:pt x="4294340" y="5689600"/>
                    <a:pt x="4120861" y="5598160"/>
                  </a:cubicBezTo>
                  <a:lnTo>
                    <a:pt x="299918" y="3553460"/>
                  </a:lnTo>
                  <a:cubicBezTo>
                    <a:pt x="108871" y="3450590"/>
                    <a:pt x="0" y="3307080"/>
                    <a:pt x="0" y="3155950"/>
                  </a:cubicBezTo>
                  <a:lnTo>
                    <a:pt x="0" y="542290"/>
                  </a:lnTo>
                  <a:cubicBezTo>
                    <a:pt x="1270" y="242570"/>
                    <a:pt x="420695" y="0"/>
                    <a:pt x="938938" y="0"/>
                  </a:cubicBezTo>
                  <a:lnTo>
                    <a:pt x="10043321" y="0"/>
                  </a:lnTo>
                  <a:cubicBezTo>
                    <a:pt x="10561563" y="0"/>
                    <a:pt x="10980989" y="242570"/>
                    <a:pt x="10980989" y="54229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2742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7688143" y="9395857"/>
            <a:ext cx="460556" cy="460556"/>
          </a:xfrm>
          <a:custGeom>
            <a:avLst/>
            <a:gdLst/>
            <a:ahLst/>
            <a:cxnLst/>
            <a:rect r="r" b="b" t="t" l="l"/>
            <a:pathLst>
              <a:path h="460556" w="460556">
                <a:moveTo>
                  <a:pt x="0" y="0"/>
                </a:moveTo>
                <a:lnTo>
                  <a:pt x="460556" y="0"/>
                </a:lnTo>
                <a:lnTo>
                  <a:pt x="460556" y="460557"/>
                </a:lnTo>
                <a:lnTo>
                  <a:pt x="0" y="46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202243" y="155647"/>
            <a:ext cx="524160" cy="524160"/>
            <a:chOff x="0" y="0"/>
            <a:chExt cx="647700" cy="647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4416" y="174930"/>
            <a:ext cx="1399642" cy="1599590"/>
          </a:xfrm>
          <a:custGeom>
            <a:avLst/>
            <a:gdLst/>
            <a:ahLst/>
            <a:cxnLst/>
            <a:rect r="r" b="b" t="t" l="l"/>
            <a:pathLst>
              <a:path h="1599590" w="1399642">
                <a:moveTo>
                  <a:pt x="0" y="0"/>
                </a:moveTo>
                <a:lnTo>
                  <a:pt x="1399642" y="0"/>
                </a:lnTo>
                <a:lnTo>
                  <a:pt x="1399642" y="1599590"/>
                </a:lnTo>
                <a:lnTo>
                  <a:pt x="0" y="1599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87294" y="174930"/>
            <a:ext cx="1599590" cy="1599590"/>
          </a:xfrm>
          <a:custGeom>
            <a:avLst/>
            <a:gdLst/>
            <a:ahLst/>
            <a:cxnLst/>
            <a:rect r="r" b="b" t="t" l="l"/>
            <a:pathLst>
              <a:path h="1599590" w="1599590">
                <a:moveTo>
                  <a:pt x="0" y="0"/>
                </a:moveTo>
                <a:lnTo>
                  <a:pt x="1599590" y="0"/>
                </a:lnTo>
                <a:lnTo>
                  <a:pt x="1599590" y="1599590"/>
                </a:lnTo>
                <a:lnTo>
                  <a:pt x="0" y="15995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94416" y="2786817"/>
            <a:ext cx="13084230" cy="6321705"/>
          </a:xfrm>
          <a:custGeom>
            <a:avLst/>
            <a:gdLst/>
            <a:ahLst/>
            <a:cxnLst/>
            <a:rect r="r" b="b" t="t" l="l"/>
            <a:pathLst>
              <a:path h="6321705" w="13084230">
                <a:moveTo>
                  <a:pt x="0" y="0"/>
                </a:moveTo>
                <a:lnTo>
                  <a:pt x="13084230" y="0"/>
                </a:lnTo>
                <a:lnTo>
                  <a:pt x="13084230" y="6321705"/>
                </a:lnTo>
                <a:lnTo>
                  <a:pt x="0" y="63217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92" t="0" r="-99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66471" y="374650"/>
            <a:ext cx="7470513" cy="135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4"/>
              </a:lnSpc>
            </a:pPr>
            <a:r>
              <a:rPr lang="en-US" sz="5499" i="true" spc="-21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IDENTIDAD VISUAL Y NAVEGACIÓN PRINCIPAL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26834" y="155647"/>
            <a:ext cx="1149667" cy="5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97026" y="2341209"/>
            <a:ext cx="4483509" cy="27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b="true" sz="1908" i="true" spc="-38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Barra de Navegación Adaptativa: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97026" y="2895831"/>
            <a:ext cx="4483509" cy="113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1908" spc="-3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Menú superior sticky-top que permanece fijo al desplazarse y colapsa en botón hamburguesa en dispositivos móviles.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97026" y="5957194"/>
            <a:ext cx="4483509" cy="27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b="true" sz="1908" i="true" spc="-38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Estética Dark Mode: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97026" y="6490446"/>
            <a:ext cx="4483509" cy="84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1908" spc="-3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Banner publicitario maquetado con bordes redondeados y sombra neón naranja fuego (#ff4500).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97026" y="4219211"/>
            <a:ext cx="4483509" cy="27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b="true" sz="1908" i="true" spc="-38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Identidad de Marca: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97026" y="4857237"/>
            <a:ext cx="4483509" cy="84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1908" spc="-3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Cabecera con logo institucional centrado, tipografía estilizada y lema comercial.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63965" y="1245834"/>
            <a:ext cx="314963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635" i="true" spc="-9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55817" y="8631620"/>
            <a:ext cx="1502434" cy="1435460"/>
            <a:chOff x="0" y="0"/>
            <a:chExt cx="769616" cy="7353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9616" cy="735307"/>
            </a:xfrm>
            <a:custGeom>
              <a:avLst/>
              <a:gdLst/>
              <a:ahLst/>
              <a:cxnLst/>
              <a:rect r="r" b="b" t="t" l="l"/>
              <a:pathLst>
                <a:path h="735307" w="769616">
                  <a:moveTo>
                    <a:pt x="769616" y="262799"/>
                  </a:moveTo>
                  <a:lnTo>
                    <a:pt x="769616" y="472509"/>
                  </a:lnTo>
                  <a:cubicBezTo>
                    <a:pt x="769616" y="542207"/>
                    <a:pt x="741928" y="609051"/>
                    <a:pt x="692644" y="658335"/>
                  </a:cubicBezTo>
                  <a:cubicBezTo>
                    <a:pt x="643359" y="707620"/>
                    <a:pt x="576515" y="735307"/>
                    <a:pt x="506817" y="735307"/>
                  </a:cubicBezTo>
                  <a:lnTo>
                    <a:pt x="262799" y="735307"/>
                  </a:lnTo>
                  <a:cubicBezTo>
                    <a:pt x="193100" y="735307"/>
                    <a:pt x="126256" y="707620"/>
                    <a:pt x="76972" y="658335"/>
                  </a:cubicBezTo>
                  <a:cubicBezTo>
                    <a:pt x="27688" y="609051"/>
                    <a:pt x="0" y="542207"/>
                    <a:pt x="0" y="472509"/>
                  </a:cubicBezTo>
                  <a:lnTo>
                    <a:pt x="0" y="262799"/>
                  </a:lnTo>
                  <a:cubicBezTo>
                    <a:pt x="0" y="193100"/>
                    <a:pt x="27688" y="126256"/>
                    <a:pt x="76972" y="76972"/>
                  </a:cubicBezTo>
                  <a:cubicBezTo>
                    <a:pt x="126256" y="27688"/>
                    <a:pt x="193100" y="0"/>
                    <a:pt x="262799" y="0"/>
                  </a:cubicBezTo>
                  <a:lnTo>
                    <a:pt x="506817" y="0"/>
                  </a:lnTo>
                  <a:cubicBezTo>
                    <a:pt x="576515" y="0"/>
                    <a:pt x="643359" y="27688"/>
                    <a:pt x="692644" y="76972"/>
                  </a:cubicBezTo>
                  <a:cubicBezTo>
                    <a:pt x="741928" y="126256"/>
                    <a:pt x="769616" y="193100"/>
                    <a:pt x="769616" y="262799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769616" cy="73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53035" y="9332851"/>
            <a:ext cx="1069906" cy="734230"/>
            <a:chOff x="0" y="0"/>
            <a:chExt cx="868700" cy="5961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8700" cy="596151"/>
            </a:xfrm>
            <a:custGeom>
              <a:avLst/>
              <a:gdLst/>
              <a:ahLst/>
              <a:cxnLst/>
              <a:rect r="r" b="b" t="t" l="l"/>
              <a:pathLst>
                <a:path h="596151" w="868700">
                  <a:moveTo>
                    <a:pt x="0" y="0"/>
                  </a:moveTo>
                  <a:lnTo>
                    <a:pt x="868700" y="0"/>
                  </a:lnTo>
                  <a:lnTo>
                    <a:pt x="868700" y="596151"/>
                  </a:lnTo>
                  <a:lnTo>
                    <a:pt x="0" y="596151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68700" cy="624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72648" y="7878471"/>
            <a:ext cx="4100587" cy="2143863"/>
            <a:chOff x="0" y="0"/>
            <a:chExt cx="10979719" cy="5740400"/>
          </a:xfrm>
        </p:grpSpPr>
        <p:sp>
          <p:nvSpPr>
            <p:cNvPr name="Freeform 10" id="10"/>
            <p:cNvSpPr/>
            <p:nvPr/>
          </p:nvSpPr>
          <p:spPr>
            <a:xfrm flipH="true" flipV="false" rot="0">
              <a:off x="0" y="0"/>
              <a:ext cx="10980989" cy="5741670"/>
            </a:xfrm>
            <a:custGeom>
              <a:avLst/>
              <a:gdLst/>
              <a:ahLst/>
              <a:cxnLst/>
              <a:rect r="r" b="b" t="t" l="l"/>
              <a:pathLst>
                <a:path h="5741670" w="10980989">
                  <a:moveTo>
                    <a:pt x="10980989" y="542290"/>
                  </a:moveTo>
                  <a:lnTo>
                    <a:pt x="10980989" y="2392680"/>
                  </a:lnTo>
                  <a:cubicBezTo>
                    <a:pt x="10980989" y="2691130"/>
                    <a:pt x="10561563" y="2933700"/>
                    <a:pt x="10043321" y="2933700"/>
                  </a:cubicBezTo>
                  <a:lnTo>
                    <a:pt x="8995856" y="2933700"/>
                  </a:lnTo>
                  <a:cubicBezTo>
                    <a:pt x="8477613" y="2933700"/>
                    <a:pt x="8058187" y="3176270"/>
                    <a:pt x="8058187" y="3475990"/>
                  </a:cubicBezTo>
                  <a:lnTo>
                    <a:pt x="8058187" y="5199380"/>
                  </a:lnTo>
                  <a:cubicBezTo>
                    <a:pt x="8058187" y="5499100"/>
                    <a:pt x="7638762" y="5741670"/>
                    <a:pt x="7120520" y="5741670"/>
                  </a:cubicBezTo>
                  <a:lnTo>
                    <a:pt x="4757684" y="5741670"/>
                  </a:lnTo>
                  <a:cubicBezTo>
                    <a:pt x="4522718" y="5741670"/>
                    <a:pt x="4294340" y="5689600"/>
                    <a:pt x="4120861" y="5598160"/>
                  </a:cubicBezTo>
                  <a:lnTo>
                    <a:pt x="299918" y="3553460"/>
                  </a:lnTo>
                  <a:cubicBezTo>
                    <a:pt x="108871" y="3450590"/>
                    <a:pt x="0" y="3307080"/>
                    <a:pt x="0" y="3155950"/>
                  </a:cubicBezTo>
                  <a:lnTo>
                    <a:pt x="0" y="542290"/>
                  </a:lnTo>
                  <a:cubicBezTo>
                    <a:pt x="1270" y="242570"/>
                    <a:pt x="420695" y="0"/>
                    <a:pt x="938938" y="0"/>
                  </a:cubicBezTo>
                  <a:lnTo>
                    <a:pt x="10043321" y="0"/>
                  </a:lnTo>
                  <a:cubicBezTo>
                    <a:pt x="10561563" y="0"/>
                    <a:pt x="10980989" y="242570"/>
                    <a:pt x="10980989" y="54229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2742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7688143" y="9395857"/>
            <a:ext cx="460556" cy="460556"/>
          </a:xfrm>
          <a:custGeom>
            <a:avLst/>
            <a:gdLst/>
            <a:ahLst/>
            <a:cxnLst/>
            <a:rect r="r" b="b" t="t" l="l"/>
            <a:pathLst>
              <a:path h="460556" w="460556">
                <a:moveTo>
                  <a:pt x="0" y="0"/>
                </a:moveTo>
                <a:lnTo>
                  <a:pt x="460556" y="0"/>
                </a:lnTo>
                <a:lnTo>
                  <a:pt x="460556" y="460557"/>
                </a:lnTo>
                <a:lnTo>
                  <a:pt x="0" y="46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202243" y="155647"/>
            <a:ext cx="524160" cy="524160"/>
            <a:chOff x="0" y="0"/>
            <a:chExt cx="647700" cy="647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4416" y="174930"/>
            <a:ext cx="1399642" cy="1599590"/>
          </a:xfrm>
          <a:custGeom>
            <a:avLst/>
            <a:gdLst/>
            <a:ahLst/>
            <a:cxnLst/>
            <a:rect r="r" b="b" t="t" l="l"/>
            <a:pathLst>
              <a:path h="1599590" w="1399642">
                <a:moveTo>
                  <a:pt x="0" y="0"/>
                </a:moveTo>
                <a:lnTo>
                  <a:pt x="1399642" y="0"/>
                </a:lnTo>
                <a:lnTo>
                  <a:pt x="1399642" y="1599590"/>
                </a:lnTo>
                <a:lnTo>
                  <a:pt x="0" y="1599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87294" y="174930"/>
            <a:ext cx="1599590" cy="1599590"/>
          </a:xfrm>
          <a:custGeom>
            <a:avLst/>
            <a:gdLst/>
            <a:ahLst/>
            <a:cxnLst/>
            <a:rect r="r" b="b" t="t" l="l"/>
            <a:pathLst>
              <a:path h="1599590" w="1599590">
                <a:moveTo>
                  <a:pt x="0" y="0"/>
                </a:moveTo>
                <a:lnTo>
                  <a:pt x="1599590" y="0"/>
                </a:lnTo>
                <a:lnTo>
                  <a:pt x="1599590" y="1599590"/>
                </a:lnTo>
                <a:lnTo>
                  <a:pt x="0" y="15995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94416" y="2873409"/>
            <a:ext cx="13256135" cy="5758212"/>
          </a:xfrm>
          <a:custGeom>
            <a:avLst/>
            <a:gdLst/>
            <a:ahLst/>
            <a:cxnLst/>
            <a:rect r="r" b="b" t="t" l="l"/>
            <a:pathLst>
              <a:path h="5758212" w="13256135">
                <a:moveTo>
                  <a:pt x="0" y="0"/>
                </a:moveTo>
                <a:lnTo>
                  <a:pt x="13256135" y="0"/>
                </a:lnTo>
                <a:lnTo>
                  <a:pt x="13256135" y="5758211"/>
                </a:lnTo>
                <a:lnTo>
                  <a:pt x="0" y="5758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7" t="0" r="-21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66471" y="374650"/>
            <a:ext cx="7470513" cy="135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4"/>
              </a:lnSpc>
            </a:pPr>
            <a:r>
              <a:rPr lang="en-US" sz="5499" i="true" spc="-21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INFORMACIÓN INSTITUCIONAL Y GRID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26834" y="155647"/>
            <a:ext cx="1149667" cy="5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2993" y="2415039"/>
            <a:ext cx="4483509" cy="27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b="true" sz="1908" i="true" spc="-38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Estructura Informativa: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92993" y="2940937"/>
            <a:ext cx="4483509" cy="84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1908" spc="-3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Presentación conceptual del negocio y definición del público objetivo (familias y jóvenes de 18 a 45 años).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92993" y="6025847"/>
            <a:ext cx="4483509" cy="27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b="true" sz="1908" i="true" spc="-38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Simetría Visual: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2993" y="6564276"/>
            <a:ext cx="4483509" cy="84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1908" spc="-3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h-100 de Bootstrap para garantizar que ambas tarjetas mantengan exactamente la misma altura.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92993" y="4121591"/>
            <a:ext cx="4483509" cy="27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b="true" sz="1908" i="true" spc="-38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Layout Responsivo: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92993" y="4645317"/>
            <a:ext cx="4483509" cy="113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1908" spc="-3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Implementación del Grid System de Bootstrap con .col-md-6 para dividir Misión y Visión en dos columnas paralelas en PC y 1 en móviles.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48126" y="1377950"/>
            <a:ext cx="314963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635" i="true" spc="-9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02243" y="155647"/>
            <a:ext cx="524160" cy="524160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419471" y="241300"/>
            <a:ext cx="1399642" cy="1599590"/>
          </a:xfrm>
          <a:custGeom>
            <a:avLst/>
            <a:gdLst/>
            <a:ahLst/>
            <a:cxnLst/>
            <a:rect r="r" b="b" t="t" l="l"/>
            <a:pathLst>
              <a:path h="1599590" w="1399642">
                <a:moveTo>
                  <a:pt x="0" y="0"/>
                </a:moveTo>
                <a:lnTo>
                  <a:pt x="1399642" y="0"/>
                </a:lnTo>
                <a:lnTo>
                  <a:pt x="1399642" y="1599591"/>
                </a:lnTo>
                <a:lnTo>
                  <a:pt x="0" y="15995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9864" y="186042"/>
            <a:ext cx="1599590" cy="1599590"/>
          </a:xfrm>
          <a:custGeom>
            <a:avLst/>
            <a:gdLst/>
            <a:ahLst/>
            <a:cxnLst/>
            <a:rect r="r" b="b" t="t" l="l"/>
            <a:pathLst>
              <a:path h="1599590" w="1599590">
                <a:moveTo>
                  <a:pt x="0" y="0"/>
                </a:moveTo>
                <a:lnTo>
                  <a:pt x="1599590" y="0"/>
                </a:lnTo>
                <a:lnTo>
                  <a:pt x="1599590" y="1599591"/>
                </a:lnTo>
                <a:lnTo>
                  <a:pt x="0" y="1599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9864" y="2106158"/>
            <a:ext cx="8754007" cy="7984281"/>
          </a:xfrm>
          <a:custGeom>
            <a:avLst/>
            <a:gdLst/>
            <a:ahLst/>
            <a:cxnLst/>
            <a:rect r="r" b="b" t="t" l="l"/>
            <a:pathLst>
              <a:path h="7984281" w="8754007">
                <a:moveTo>
                  <a:pt x="0" y="0"/>
                </a:moveTo>
                <a:lnTo>
                  <a:pt x="8754007" y="0"/>
                </a:lnTo>
                <a:lnTo>
                  <a:pt x="8754007" y="7984281"/>
                </a:lnTo>
                <a:lnTo>
                  <a:pt x="0" y="79842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66471" y="374650"/>
            <a:ext cx="7470513" cy="135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4"/>
              </a:lnSpc>
            </a:pPr>
            <a:r>
              <a:rPr lang="en-US" sz="5499" i="true" spc="-21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PRODUCTOS DESTACADOS Y MÓDULO MULTIMEDIA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26834" y="155647"/>
            <a:ext cx="1149667" cy="5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16165929" y="8208914"/>
            <a:ext cx="823961" cy="2821855"/>
            <a:chOff x="0" y="0"/>
            <a:chExt cx="448485" cy="15359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8485" cy="1535945"/>
            </a:xfrm>
            <a:custGeom>
              <a:avLst/>
              <a:gdLst/>
              <a:ahLst/>
              <a:cxnLst/>
              <a:rect r="r" b="b" t="t" l="l"/>
              <a:pathLst>
                <a:path h="1535945" w="448485">
                  <a:moveTo>
                    <a:pt x="0" y="0"/>
                  </a:moveTo>
                  <a:lnTo>
                    <a:pt x="448485" y="0"/>
                  </a:lnTo>
                  <a:lnTo>
                    <a:pt x="448485" y="1535945"/>
                  </a:lnTo>
                  <a:lnTo>
                    <a:pt x="0" y="153594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48485" cy="156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166983" y="5558497"/>
            <a:ext cx="2821855" cy="3975563"/>
            <a:chOff x="0" y="0"/>
            <a:chExt cx="450723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059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50596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8"/>
              <a:stretch>
                <a:fillRect l="-55561" t="0" r="-5556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5166983" y="8600900"/>
            <a:ext cx="351684" cy="351684"/>
          </a:xfrm>
          <a:custGeom>
            <a:avLst/>
            <a:gdLst/>
            <a:ahLst/>
            <a:cxnLst/>
            <a:rect r="r" b="b" t="t" l="l"/>
            <a:pathLst>
              <a:path h="351684" w="351684">
                <a:moveTo>
                  <a:pt x="0" y="0"/>
                </a:moveTo>
                <a:lnTo>
                  <a:pt x="351684" y="0"/>
                </a:lnTo>
                <a:lnTo>
                  <a:pt x="351684" y="351684"/>
                </a:lnTo>
                <a:lnTo>
                  <a:pt x="0" y="351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048353" y="3262408"/>
            <a:ext cx="2624460" cy="2507470"/>
            <a:chOff x="0" y="0"/>
            <a:chExt cx="769616" cy="7353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9616" cy="735307"/>
            </a:xfrm>
            <a:custGeom>
              <a:avLst/>
              <a:gdLst/>
              <a:ahLst/>
              <a:cxnLst/>
              <a:rect r="r" b="b" t="t" l="l"/>
              <a:pathLst>
                <a:path h="735307" w="769616">
                  <a:moveTo>
                    <a:pt x="769616" y="150445"/>
                  </a:moveTo>
                  <a:lnTo>
                    <a:pt x="769616" y="584862"/>
                  </a:lnTo>
                  <a:cubicBezTo>
                    <a:pt x="769616" y="624763"/>
                    <a:pt x="753765" y="663029"/>
                    <a:pt x="725551" y="691243"/>
                  </a:cubicBezTo>
                  <a:cubicBezTo>
                    <a:pt x="697337" y="719457"/>
                    <a:pt x="659071" y="735307"/>
                    <a:pt x="619170" y="735307"/>
                  </a:cubicBezTo>
                  <a:lnTo>
                    <a:pt x="150445" y="735307"/>
                  </a:lnTo>
                  <a:cubicBezTo>
                    <a:pt x="67357" y="735307"/>
                    <a:pt x="0" y="667951"/>
                    <a:pt x="0" y="584862"/>
                  </a:cubicBezTo>
                  <a:lnTo>
                    <a:pt x="0" y="150445"/>
                  </a:lnTo>
                  <a:cubicBezTo>
                    <a:pt x="0" y="67357"/>
                    <a:pt x="67357" y="0"/>
                    <a:pt x="150445" y="0"/>
                  </a:cubicBezTo>
                  <a:lnTo>
                    <a:pt x="619170" y="0"/>
                  </a:lnTo>
                  <a:cubicBezTo>
                    <a:pt x="702259" y="0"/>
                    <a:pt x="769616" y="67357"/>
                    <a:pt x="769616" y="150445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69616" cy="73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47327" y="4487321"/>
            <a:ext cx="1868918" cy="1282557"/>
            <a:chOff x="0" y="0"/>
            <a:chExt cx="868700" cy="5961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700" cy="596151"/>
            </a:xfrm>
            <a:custGeom>
              <a:avLst/>
              <a:gdLst/>
              <a:ahLst/>
              <a:cxnLst/>
              <a:rect r="r" b="b" t="t" l="l"/>
              <a:pathLst>
                <a:path h="596151" w="868700">
                  <a:moveTo>
                    <a:pt x="0" y="0"/>
                  </a:moveTo>
                  <a:lnTo>
                    <a:pt x="868700" y="0"/>
                  </a:lnTo>
                  <a:lnTo>
                    <a:pt x="868700" y="596151"/>
                  </a:lnTo>
                  <a:lnTo>
                    <a:pt x="0" y="596151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68700" cy="624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30212" y="2021956"/>
            <a:ext cx="4142601" cy="3744911"/>
            <a:chOff x="0" y="0"/>
            <a:chExt cx="6350000" cy="5740400"/>
          </a:xfrm>
        </p:grpSpPr>
        <p:sp>
          <p:nvSpPr>
            <p:cNvPr name="Freeform 24" id="24"/>
            <p:cNvSpPr/>
            <p:nvPr/>
          </p:nvSpPr>
          <p:spPr>
            <a:xfrm flipH="tru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6351270" y="542290"/>
                  </a:moveTo>
                  <a:lnTo>
                    <a:pt x="6351270" y="2392680"/>
                  </a:lnTo>
                  <a:cubicBezTo>
                    <a:pt x="6351270" y="2691130"/>
                    <a:pt x="6108700" y="2933700"/>
                    <a:pt x="5808980" y="2933700"/>
                  </a:cubicBezTo>
                  <a:lnTo>
                    <a:pt x="5203190" y="2933700"/>
                  </a:lnTo>
                  <a:cubicBezTo>
                    <a:pt x="4903470" y="2933700"/>
                    <a:pt x="4660900" y="3176270"/>
                    <a:pt x="4660900" y="3475990"/>
                  </a:cubicBezTo>
                  <a:lnTo>
                    <a:pt x="4660900" y="5199380"/>
                  </a:lnTo>
                  <a:cubicBezTo>
                    <a:pt x="4660900" y="5499100"/>
                    <a:pt x="4418330" y="5741670"/>
                    <a:pt x="4118610" y="5741670"/>
                  </a:cubicBezTo>
                  <a:lnTo>
                    <a:pt x="2752090" y="5741670"/>
                  </a:lnTo>
                  <a:cubicBezTo>
                    <a:pt x="2616200" y="5741670"/>
                    <a:pt x="2484120" y="5689600"/>
                    <a:pt x="2383790" y="5598160"/>
                  </a:cubicBezTo>
                  <a:lnTo>
                    <a:pt x="173990" y="3553460"/>
                  </a:lnTo>
                  <a:cubicBezTo>
                    <a:pt x="63500" y="3450590"/>
                    <a:pt x="0" y="3307080"/>
                    <a:pt x="0" y="3155950"/>
                  </a:cubicBezTo>
                  <a:lnTo>
                    <a:pt x="0" y="542290"/>
                  </a:lnTo>
                  <a:cubicBezTo>
                    <a:pt x="1270" y="242570"/>
                    <a:pt x="243840" y="0"/>
                    <a:pt x="543560" y="0"/>
                  </a:cubicBezTo>
                  <a:lnTo>
                    <a:pt x="5808980" y="0"/>
                  </a:lnTo>
                  <a:cubicBezTo>
                    <a:pt x="6108700" y="0"/>
                    <a:pt x="6351270" y="242570"/>
                    <a:pt x="6351270" y="542290"/>
                  </a:cubicBezTo>
                  <a:close/>
                </a:path>
              </a:pathLst>
            </a:custGeom>
            <a:blipFill>
              <a:blip r:embed="rId11"/>
              <a:stretch>
                <a:fillRect l="-17843" t="0" r="-17843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4011960" y="5196872"/>
            <a:ext cx="411827" cy="411827"/>
          </a:xfrm>
          <a:custGeom>
            <a:avLst/>
            <a:gdLst/>
            <a:ahLst/>
            <a:cxnLst/>
            <a:rect r="r" b="b" t="t" l="l"/>
            <a:pathLst>
              <a:path h="411827" w="411827">
                <a:moveTo>
                  <a:pt x="0" y="0"/>
                </a:moveTo>
                <a:lnTo>
                  <a:pt x="411826" y="0"/>
                </a:lnTo>
                <a:lnTo>
                  <a:pt x="411826" y="411826"/>
                </a:lnTo>
                <a:lnTo>
                  <a:pt x="0" y="411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058326" y="2459966"/>
            <a:ext cx="3039167" cy="249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64"/>
              </a:lnSpc>
            </a:pPr>
            <a:r>
              <a:rPr lang="en-US" sz="8220" i="true" spc="-164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9171" y="5960186"/>
            <a:ext cx="371141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Componente Carousel: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49171" y="6305446"/>
            <a:ext cx="538816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Carrusel dinámico de Bootstrap (data-bs-ride="carousel") para la rotación automática de los platos estrella de la carta.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49171" y="7334146"/>
            <a:ext cx="377688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Insignias Promocionales: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49171" y="7734196"/>
            <a:ext cx="53881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Uso de etiquetas flotantes (.badge) para destacar platos populares.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49171" y="8496196"/>
            <a:ext cx="317184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Integración Multimedia: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49171" y="8896246"/>
            <a:ext cx="538816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Incorporación de video HTML5 nativo (&lt;video controls&gt;) para mostrar la preparación de los productos en alta resolución.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08628" y="196220"/>
            <a:ext cx="531735" cy="531735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3546" y="81408"/>
            <a:ext cx="1131457" cy="1293094"/>
          </a:xfrm>
          <a:custGeom>
            <a:avLst/>
            <a:gdLst/>
            <a:ahLst/>
            <a:cxnLst/>
            <a:rect r="r" b="b" t="t" l="l"/>
            <a:pathLst>
              <a:path h="1293094" w="1131457">
                <a:moveTo>
                  <a:pt x="0" y="0"/>
                </a:moveTo>
                <a:lnTo>
                  <a:pt x="1131458" y="0"/>
                </a:lnTo>
                <a:lnTo>
                  <a:pt x="1131458" y="1293094"/>
                </a:lnTo>
                <a:lnTo>
                  <a:pt x="0" y="12930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00000">
            <a:off x="14539687" y="8701201"/>
            <a:ext cx="619906" cy="2282913"/>
            <a:chOff x="0" y="0"/>
            <a:chExt cx="297510" cy="10956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7510" cy="1095634"/>
            </a:xfrm>
            <a:custGeom>
              <a:avLst/>
              <a:gdLst/>
              <a:ahLst/>
              <a:cxnLst/>
              <a:rect r="r" b="b" t="t" l="l"/>
              <a:pathLst>
                <a:path h="1095634" w="297510">
                  <a:moveTo>
                    <a:pt x="0" y="0"/>
                  </a:moveTo>
                  <a:lnTo>
                    <a:pt x="297510" y="0"/>
                  </a:lnTo>
                  <a:lnTo>
                    <a:pt x="297510" y="1095634"/>
                  </a:lnTo>
                  <a:lnTo>
                    <a:pt x="0" y="109563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97510" cy="112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12966" y="7577615"/>
            <a:ext cx="4483509" cy="2059997"/>
            <a:chOff x="0" y="0"/>
            <a:chExt cx="7567307" cy="34768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67307" cy="3476881"/>
            </a:xfrm>
            <a:custGeom>
              <a:avLst/>
              <a:gdLst/>
              <a:ahLst/>
              <a:cxnLst/>
              <a:rect r="r" b="b" t="t" l="l"/>
              <a:pathLst>
                <a:path h="3476881" w="7567307">
                  <a:moveTo>
                    <a:pt x="1964473" y="0"/>
                  </a:moveTo>
                  <a:lnTo>
                    <a:pt x="6927113" y="0"/>
                  </a:lnTo>
                  <a:cubicBezTo>
                    <a:pt x="7281263" y="0"/>
                    <a:pt x="7567307" y="218971"/>
                    <a:pt x="7567307" y="490077"/>
                  </a:cubicBezTo>
                  <a:lnTo>
                    <a:pt x="7567307" y="2249951"/>
                  </a:lnTo>
                  <a:cubicBezTo>
                    <a:pt x="7567307" y="2521057"/>
                    <a:pt x="7281263" y="2740028"/>
                    <a:pt x="6927113" y="2740028"/>
                  </a:cubicBezTo>
                  <a:lnTo>
                    <a:pt x="5661859" y="2740028"/>
                  </a:lnTo>
                  <a:cubicBezTo>
                    <a:pt x="5466623" y="2740028"/>
                    <a:pt x="5280467" y="2808384"/>
                    <a:pt x="5159390" y="2926558"/>
                  </a:cubicBezTo>
                  <a:lnTo>
                    <a:pt x="4782538" y="3290351"/>
                  </a:lnTo>
                  <a:cubicBezTo>
                    <a:pt x="4661461" y="3407367"/>
                    <a:pt x="4476819" y="3476881"/>
                    <a:pt x="4280069" y="3476881"/>
                  </a:cubicBezTo>
                  <a:lnTo>
                    <a:pt x="640194" y="3476881"/>
                  </a:lnTo>
                  <a:cubicBezTo>
                    <a:pt x="286044" y="3476881"/>
                    <a:pt x="0" y="3257911"/>
                    <a:pt x="0" y="2986804"/>
                  </a:cubicBezTo>
                  <a:lnTo>
                    <a:pt x="0" y="1254736"/>
                  </a:lnTo>
                  <a:cubicBezTo>
                    <a:pt x="0" y="1100646"/>
                    <a:pt x="93835" y="955824"/>
                    <a:pt x="254262" y="863138"/>
                  </a:cubicBezTo>
                  <a:lnTo>
                    <a:pt x="1578540" y="98479"/>
                  </a:lnTo>
                  <a:cubicBezTo>
                    <a:pt x="1689023" y="34757"/>
                    <a:pt x="1825235" y="0"/>
                    <a:pt x="196447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045" r="0" b="-3523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84003" y="81408"/>
            <a:ext cx="1237949" cy="1237949"/>
          </a:xfrm>
          <a:custGeom>
            <a:avLst/>
            <a:gdLst/>
            <a:ahLst/>
            <a:cxnLst/>
            <a:rect r="r" b="b" t="t" l="l"/>
            <a:pathLst>
              <a:path h="1237949" w="1237949">
                <a:moveTo>
                  <a:pt x="0" y="0"/>
                </a:moveTo>
                <a:lnTo>
                  <a:pt x="1237948" y="0"/>
                </a:lnTo>
                <a:lnTo>
                  <a:pt x="1237948" y="1237948"/>
                </a:lnTo>
                <a:lnTo>
                  <a:pt x="0" y="1237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73546" y="1757758"/>
            <a:ext cx="12729752" cy="8230112"/>
          </a:xfrm>
          <a:custGeom>
            <a:avLst/>
            <a:gdLst/>
            <a:ahLst/>
            <a:cxnLst/>
            <a:rect r="r" b="b" t="t" l="l"/>
            <a:pathLst>
              <a:path h="8230112" w="12729752">
                <a:moveTo>
                  <a:pt x="0" y="0"/>
                </a:moveTo>
                <a:lnTo>
                  <a:pt x="12729753" y="0"/>
                </a:lnTo>
                <a:lnTo>
                  <a:pt x="12729753" y="8230112"/>
                </a:lnTo>
                <a:lnTo>
                  <a:pt x="0" y="82301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97797" y="349492"/>
            <a:ext cx="10567760" cy="92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3"/>
              </a:lnSpc>
            </a:pPr>
            <a:r>
              <a:rPr lang="en-US" sz="7245" i="true" spc="-28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MENÚ DE PLATOS PRINCIPALES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43691" y="196220"/>
            <a:ext cx="1166281" cy="53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28905" y="2436082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Catálogo Principal de Comidas: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28905" y="2879125"/>
            <a:ext cx="4851630" cy="9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Presentación del menú con 8 opciones de platos con sus respectivos costos en moneda nacional (S/).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28905" y="5753506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Tarjetas Interactivas: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28905" y="6196548"/>
            <a:ext cx="4851630" cy="123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Efectos visuales de elevación (transform: translateY) y cambio de borde a color naranja al pasar el cursor (hover).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28905" y="3940269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Rejilla Flexible (.col-6 .col-md-3):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28905" y="4383311"/>
            <a:ext cx="4851630" cy="123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Distribución adaptativa que muestra 4 productos por fila en pantallas de PC/Laptops y 2 por fila en teléfonos móviles.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82437" y="1317279"/>
            <a:ext cx="3744565" cy="87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5668" i="true" spc="-11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08628" y="196220"/>
            <a:ext cx="531735" cy="531735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1470" y="191978"/>
            <a:ext cx="1131457" cy="1293094"/>
          </a:xfrm>
          <a:custGeom>
            <a:avLst/>
            <a:gdLst/>
            <a:ahLst/>
            <a:cxnLst/>
            <a:rect r="r" b="b" t="t" l="l"/>
            <a:pathLst>
              <a:path h="1293094" w="1131457">
                <a:moveTo>
                  <a:pt x="0" y="0"/>
                </a:moveTo>
                <a:lnTo>
                  <a:pt x="1131457" y="0"/>
                </a:lnTo>
                <a:lnTo>
                  <a:pt x="1131457" y="1293094"/>
                </a:lnTo>
                <a:lnTo>
                  <a:pt x="0" y="12930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00000">
            <a:off x="14426499" y="8701201"/>
            <a:ext cx="619906" cy="2282913"/>
            <a:chOff x="0" y="0"/>
            <a:chExt cx="297510" cy="10956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7510" cy="1095634"/>
            </a:xfrm>
            <a:custGeom>
              <a:avLst/>
              <a:gdLst/>
              <a:ahLst/>
              <a:cxnLst/>
              <a:rect r="r" b="b" t="t" l="l"/>
              <a:pathLst>
                <a:path h="1095634" w="297510">
                  <a:moveTo>
                    <a:pt x="0" y="0"/>
                  </a:moveTo>
                  <a:lnTo>
                    <a:pt x="297510" y="0"/>
                  </a:lnTo>
                  <a:lnTo>
                    <a:pt x="297510" y="1095634"/>
                  </a:lnTo>
                  <a:lnTo>
                    <a:pt x="0" y="109563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97510" cy="112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99777" y="7577615"/>
            <a:ext cx="4483509" cy="2059997"/>
            <a:chOff x="0" y="0"/>
            <a:chExt cx="7567307" cy="34768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67307" cy="3476881"/>
            </a:xfrm>
            <a:custGeom>
              <a:avLst/>
              <a:gdLst/>
              <a:ahLst/>
              <a:cxnLst/>
              <a:rect r="r" b="b" t="t" l="l"/>
              <a:pathLst>
                <a:path h="3476881" w="7567307">
                  <a:moveTo>
                    <a:pt x="1964473" y="0"/>
                  </a:moveTo>
                  <a:lnTo>
                    <a:pt x="6927113" y="0"/>
                  </a:lnTo>
                  <a:cubicBezTo>
                    <a:pt x="7281263" y="0"/>
                    <a:pt x="7567307" y="218971"/>
                    <a:pt x="7567307" y="490077"/>
                  </a:cubicBezTo>
                  <a:lnTo>
                    <a:pt x="7567307" y="2249951"/>
                  </a:lnTo>
                  <a:cubicBezTo>
                    <a:pt x="7567307" y="2521057"/>
                    <a:pt x="7281263" y="2740028"/>
                    <a:pt x="6927113" y="2740028"/>
                  </a:cubicBezTo>
                  <a:lnTo>
                    <a:pt x="5661859" y="2740028"/>
                  </a:lnTo>
                  <a:cubicBezTo>
                    <a:pt x="5466623" y="2740028"/>
                    <a:pt x="5280467" y="2808384"/>
                    <a:pt x="5159390" y="2926558"/>
                  </a:cubicBezTo>
                  <a:lnTo>
                    <a:pt x="4782538" y="3290351"/>
                  </a:lnTo>
                  <a:cubicBezTo>
                    <a:pt x="4661461" y="3407367"/>
                    <a:pt x="4476819" y="3476881"/>
                    <a:pt x="4280069" y="3476881"/>
                  </a:cubicBezTo>
                  <a:lnTo>
                    <a:pt x="640194" y="3476881"/>
                  </a:lnTo>
                  <a:cubicBezTo>
                    <a:pt x="286044" y="3476881"/>
                    <a:pt x="0" y="3257911"/>
                    <a:pt x="0" y="2986804"/>
                  </a:cubicBezTo>
                  <a:lnTo>
                    <a:pt x="0" y="1254736"/>
                  </a:lnTo>
                  <a:cubicBezTo>
                    <a:pt x="0" y="1100646"/>
                    <a:pt x="93835" y="955824"/>
                    <a:pt x="254262" y="863138"/>
                  </a:cubicBezTo>
                  <a:lnTo>
                    <a:pt x="1578540" y="98479"/>
                  </a:lnTo>
                  <a:cubicBezTo>
                    <a:pt x="1689023" y="34757"/>
                    <a:pt x="1825235" y="0"/>
                    <a:pt x="196447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045" r="0" b="-3523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41926" y="191978"/>
            <a:ext cx="1237949" cy="1237949"/>
          </a:xfrm>
          <a:custGeom>
            <a:avLst/>
            <a:gdLst/>
            <a:ahLst/>
            <a:cxnLst/>
            <a:rect r="r" b="b" t="t" l="l"/>
            <a:pathLst>
              <a:path h="1237949" w="1237949">
                <a:moveTo>
                  <a:pt x="0" y="0"/>
                </a:moveTo>
                <a:lnTo>
                  <a:pt x="1237949" y="0"/>
                </a:lnTo>
                <a:lnTo>
                  <a:pt x="1237949" y="1237948"/>
                </a:lnTo>
                <a:lnTo>
                  <a:pt x="0" y="1237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1470" y="1708163"/>
            <a:ext cx="12455495" cy="8347433"/>
          </a:xfrm>
          <a:custGeom>
            <a:avLst/>
            <a:gdLst/>
            <a:ahLst/>
            <a:cxnLst/>
            <a:rect r="r" b="b" t="t" l="l"/>
            <a:pathLst>
              <a:path h="8347433" w="12455495">
                <a:moveTo>
                  <a:pt x="0" y="0"/>
                </a:moveTo>
                <a:lnTo>
                  <a:pt x="12455495" y="0"/>
                </a:lnTo>
                <a:lnTo>
                  <a:pt x="12455495" y="8347433"/>
                </a:lnTo>
                <a:lnTo>
                  <a:pt x="0" y="83474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87501" y="446425"/>
            <a:ext cx="10299950" cy="90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sz="7062" i="true" spc="-282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MENÚ DE BEBIDAS REFRESCANTES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43691" y="196220"/>
            <a:ext cx="1166281" cy="53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02528" y="1971029"/>
            <a:ext cx="50780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b="true" sz="2361" i="true" spc="-4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Catálogo Complementario: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02528" y="2504076"/>
            <a:ext cx="507800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361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Sección dedicada a refrescos naturales y bebidas tradicionales de la casa.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02528" y="5837826"/>
            <a:ext cx="50780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b="true" sz="2361" i="true" spc="-4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Ajuste de Imágenes: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2528" y="6371226"/>
            <a:ext cx="507800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361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Formateo CSS para que las fotos de los productos mantengan su proporción y no se distorsionen.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02528" y="3713751"/>
            <a:ext cx="50780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b="true" sz="2361" i="true" spc="-4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Consistencia de Estilos: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2528" y="4247151"/>
            <a:ext cx="5078007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361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Reutilización de los estilos globales .tarjeta para mantener la armonía visual y estética Dark Mode en todo el sitio.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95077" y="932804"/>
            <a:ext cx="391928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5916" i="true" spc="-118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08628" y="196220"/>
            <a:ext cx="531735" cy="531735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88849" y="7976535"/>
            <a:ext cx="1592277" cy="1819745"/>
          </a:xfrm>
          <a:custGeom>
            <a:avLst/>
            <a:gdLst/>
            <a:ahLst/>
            <a:cxnLst/>
            <a:rect r="r" b="b" t="t" l="l"/>
            <a:pathLst>
              <a:path h="1819745" w="1592277">
                <a:moveTo>
                  <a:pt x="0" y="0"/>
                </a:moveTo>
                <a:lnTo>
                  <a:pt x="1592277" y="0"/>
                </a:lnTo>
                <a:lnTo>
                  <a:pt x="1592277" y="1819745"/>
                </a:lnTo>
                <a:lnTo>
                  <a:pt x="0" y="1819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00000">
            <a:off x="14461246" y="8469916"/>
            <a:ext cx="669872" cy="2466919"/>
            <a:chOff x="0" y="0"/>
            <a:chExt cx="297510" cy="10956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7510" cy="1095634"/>
            </a:xfrm>
            <a:custGeom>
              <a:avLst/>
              <a:gdLst/>
              <a:ahLst/>
              <a:cxnLst/>
              <a:rect r="r" b="b" t="t" l="l"/>
              <a:pathLst>
                <a:path h="1095634" w="297510">
                  <a:moveTo>
                    <a:pt x="0" y="0"/>
                  </a:moveTo>
                  <a:lnTo>
                    <a:pt x="297510" y="0"/>
                  </a:lnTo>
                  <a:lnTo>
                    <a:pt x="297510" y="1095634"/>
                  </a:lnTo>
                  <a:lnTo>
                    <a:pt x="0" y="109563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97510" cy="112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35649" y="7255767"/>
            <a:ext cx="4844886" cy="2226035"/>
            <a:chOff x="0" y="0"/>
            <a:chExt cx="7567307" cy="34768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67307" cy="3476881"/>
            </a:xfrm>
            <a:custGeom>
              <a:avLst/>
              <a:gdLst/>
              <a:ahLst/>
              <a:cxnLst/>
              <a:rect r="r" b="b" t="t" l="l"/>
              <a:pathLst>
                <a:path h="3476881" w="7567307">
                  <a:moveTo>
                    <a:pt x="1964473" y="0"/>
                  </a:moveTo>
                  <a:lnTo>
                    <a:pt x="6927113" y="0"/>
                  </a:lnTo>
                  <a:cubicBezTo>
                    <a:pt x="7281263" y="0"/>
                    <a:pt x="7567307" y="218971"/>
                    <a:pt x="7567307" y="490077"/>
                  </a:cubicBezTo>
                  <a:lnTo>
                    <a:pt x="7567307" y="2249951"/>
                  </a:lnTo>
                  <a:cubicBezTo>
                    <a:pt x="7567307" y="2521057"/>
                    <a:pt x="7281263" y="2740028"/>
                    <a:pt x="6927113" y="2740028"/>
                  </a:cubicBezTo>
                  <a:lnTo>
                    <a:pt x="5661859" y="2740028"/>
                  </a:lnTo>
                  <a:cubicBezTo>
                    <a:pt x="5466623" y="2740028"/>
                    <a:pt x="5280467" y="2808384"/>
                    <a:pt x="5159390" y="2926558"/>
                  </a:cubicBezTo>
                  <a:lnTo>
                    <a:pt x="4782538" y="3290351"/>
                  </a:lnTo>
                  <a:cubicBezTo>
                    <a:pt x="4661461" y="3407367"/>
                    <a:pt x="4476819" y="3476881"/>
                    <a:pt x="4280069" y="3476881"/>
                  </a:cubicBezTo>
                  <a:lnTo>
                    <a:pt x="640194" y="3476881"/>
                  </a:lnTo>
                  <a:cubicBezTo>
                    <a:pt x="286044" y="3476881"/>
                    <a:pt x="0" y="3257911"/>
                    <a:pt x="0" y="2986804"/>
                  </a:cubicBezTo>
                  <a:lnTo>
                    <a:pt x="0" y="1254736"/>
                  </a:lnTo>
                  <a:cubicBezTo>
                    <a:pt x="0" y="1100646"/>
                    <a:pt x="93835" y="955824"/>
                    <a:pt x="254262" y="863138"/>
                  </a:cubicBezTo>
                  <a:lnTo>
                    <a:pt x="1578540" y="98479"/>
                  </a:lnTo>
                  <a:cubicBezTo>
                    <a:pt x="1689023" y="34757"/>
                    <a:pt x="1825235" y="0"/>
                    <a:pt x="196447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045" r="0" b="-3523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854078" y="8002452"/>
            <a:ext cx="1767911" cy="1767911"/>
          </a:xfrm>
          <a:custGeom>
            <a:avLst/>
            <a:gdLst/>
            <a:ahLst/>
            <a:cxnLst/>
            <a:rect r="r" b="b" t="t" l="l"/>
            <a:pathLst>
              <a:path h="1767911" w="1767911">
                <a:moveTo>
                  <a:pt x="0" y="0"/>
                </a:moveTo>
                <a:lnTo>
                  <a:pt x="1767911" y="0"/>
                </a:lnTo>
                <a:lnTo>
                  <a:pt x="1767911" y="1767911"/>
                </a:lnTo>
                <a:lnTo>
                  <a:pt x="0" y="1767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419" y="2399901"/>
            <a:ext cx="13084230" cy="5487199"/>
          </a:xfrm>
          <a:custGeom>
            <a:avLst/>
            <a:gdLst/>
            <a:ahLst/>
            <a:cxnLst/>
            <a:rect r="r" b="b" t="t" l="l"/>
            <a:pathLst>
              <a:path h="5487199" w="13084230">
                <a:moveTo>
                  <a:pt x="0" y="0"/>
                </a:moveTo>
                <a:lnTo>
                  <a:pt x="13084230" y="0"/>
                </a:lnTo>
                <a:lnTo>
                  <a:pt x="13084230" y="5487198"/>
                </a:lnTo>
                <a:lnTo>
                  <a:pt x="0" y="54871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24980" y="240310"/>
            <a:ext cx="10299950" cy="174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sz="7062" i="true" spc="-282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SECCIÓN DE DESARROLLADORES (EQUIPO TÉCNICO)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43691" y="196220"/>
            <a:ext cx="1166281" cy="53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28905" y="2436082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Sección Institucional del Equipo: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28905" y="2879125"/>
            <a:ext cx="4851630" cy="9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Presentación de los integrantes del proyecto web y sus respectivos roles de desarrollo.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28905" y="5443813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Badges de Habilidades: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28905" y="5886214"/>
            <a:ext cx="4851630" cy="123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Etiquetas estilizadas con bordes de color fuego (#ff4500) y bordes redondeados para destacar el perfil técnico de cada desarrollador.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28905" y="3940269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Diseño Centrado: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28905" y="4383311"/>
            <a:ext cx="4851630" cy="9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Uso de clases utilitarias de Bootstrap para alinear las tarjetas al centro de la pantalla.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82437" y="1317279"/>
            <a:ext cx="3744565" cy="87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5668" i="true" spc="-11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08628" y="196220"/>
            <a:ext cx="531735" cy="531735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4543033" y="8655610"/>
            <a:ext cx="639081" cy="2353528"/>
            <a:chOff x="0" y="0"/>
            <a:chExt cx="297510" cy="1095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7510" cy="1095634"/>
            </a:xfrm>
            <a:custGeom>
              <a:avLst/>
              <a:gdLst/>
              <a:ahLst/>
              <a:cxnLst/>
              <a:rect r="r" b="b" t="t" l="l"/>
              <a:pathLst>
                <a:path h="1095634" w="297510">
                  <a:moveTo>
                    <a:pt x="0" y="0"/>
                  </a:moveTo>
                  <a:lnTo>
                    <a:pt x="297510" y="0"/>
                  </a:lnTo>
                  <a:lnTo>
                    <a:pt x="297510" y="1095634"/>
                  </a:lnTo>
                  <a:lnTo>
                    <a:pt x="0" y="109563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97510" cy="112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46995" y="7536591"/>
            <a:ext cx="4622193" cy="2123717"/>
            <a:chOff x="0" y="0"/>
            <a:chExt cx="7567307" cy="347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67307" cy="3476881"/>
            </a:xfrm>
            <a:custGeom>
              <a:avLst/>
              <a:gdLst/>
              <a:ahLst/>
              <a:cxnLst/>
              <a:rect r="r" b="b" t="t" l="l"/>
              <a:pathLst>
                <a:path h="3476881" w="7567307">
                  <a:moveTo>
                    <a:pt x="1964473" y="0"/>
                  </a:moveTo>
                  <a:lnTo>
                    <a:pt x="6927113" y="0"/>
                  </a:lnTo>
                  <a:cubicBezTo>
                    <a:pt x="7281263" y="0"/>
                    <a:pt x="7567307" y="218971"/>
                    <a:pt x="7567307" y="490077"/>
                  </a:cubicBezTo>
                  <a:lnTo>
                    <a:pt x="7567307" y="2249951"/>
                  </a:lnTo>
                  <a:cubicBezTo>
                    <a:pt x="7567307" y="2521057"/>
                    <a:pt x="7281263" y="2740028"/>
                    <a:pt x="6927113" y="2740028"/>
                  </a:cubicBezTo>
                  <a:lnTo>
                    <a:pt x="5661859" y="2740028"/>
                  </a:lnTo>
                  <a:cubicBezTo>
                    <a:pt x="5466623" y="2740028"/>
                    <a:pt x="5280467" y="2808384"/>
                    <a:pt x="5159390" y="2926558"/>
                  </a:cubicBezTo>
                  <a:lnTo>
                    <a:pt x="4782538" y="3290351"/>
                  </a:lnTo>
                  <a:cubicBezTo>
                    <a:pt x="4661461" y="3407367"/>
                    <a:pt x="4476819" y="3476881"/>
                    <a:pt x="4280069" y="3476881"/>
                  </a:cubicBezTo>
                  <a:lnTo>
                    <a:pt x="640194" y="3476881"/>
                  </a:lnTo>
                  <a:cubicBezTo>
                    <a:pt x="286044" y="3476881"/>
                    <a:pt x="0" y="3257911"/>
                    <a:pt x="0" y="2986804"/>
                  </a:cubicBezTo>
                  <a:lnTo>
                    <a:pt x="0" y="1254736"/>
                  </a:lnTo>
                  <a:cubicBezTo>
                    <a:pt x="0" y="1100646"/>
                    <a:pt x="93835" y="955824"/>
                    <a:pt x="254262" y="863138"/>
                  </a:cubicBezTo>
                  <a:lnTo>
                    <a:pt x="1578540" y="98479"/>
                  </a:lnTo>
                  <a:cubicBezTo>
                    <a:pt x="1689023" y="34757"/>
                    <a:pt x="1825235" y="0"/>
                    <a:pt x="196447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045" r="0" b="-35233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64782" y="2786601"/>
            <a:ext cx="12970867" cy="4933704"/>
          </a:xfrm>
          <a:custGeom>
            <a:avLst/>
            <a:gdLst/>
            <a:ahLst/>
            <a:cxnLst/>
            <a:rect r="r" b="b" t="t" l="l"/>
            <a:pathLst>
              <a:path h="4933704" w="12970867">
                <a:moveTo>
                  <a:pt x="0" y="0"/>
                </a:moveTo>
                <a:lnTo>
                  <a:pt x="12970867" y="0"/>
                </a:lnTo>
                <a:lnTo>
                  <a:pt x="12970867" y="4933705"/>
                </a:lnTo>
                <a:lnTo>
                  <a:pt x="0" y="4933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7969" y="377195"/>
            <a:ext cx="10784494" cy="182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4"/>
              </a:lnSpc>
            </a:pPr>
            <a:r>
              <a:rPr lang="en-US" sz="7394" i="true" spc="-295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MÓDULO DEL FORMULARIO DE PEDIDOS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43691" y="196220"/>
            <a:ext cx="1166281" cy="53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58342" y="2379072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Captura de Datos Interactiva: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58342" y="2822115"/>
            <a:ext cx="4851630" cy="9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"Tenemos un formulario estructurado para registrar las compras de los clientes de manera interactiva."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58342" y="5695854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Estilizado en Modo Oscuro: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58342" y="6138255"/>
            <a:ext cx="4851630" cy="123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"Personalizamos los controles con clases de Bootstrap (form-control, form-select) adaptados a la estética Dark Mode."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58342" y="3883259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Código de Cliente Autogenerado: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58342" y="4326301"/>
            <a:ext cx="4851630" cy="123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"El código está configurado en solo lectura (readonly), ya que se vincula a la generación automática desde JavaScript."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85809" y="1317138"/>
            <a:ext cx="3744565" cy="87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5668" i="true" spc="-11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261930" y="7976535"/>
            <a:ext cx="1854328" cy="2119232"/>
          </a:xfrm>
          <a:custGeom>
            <a:avLst/>
            <a:gdLst/>
            <a:ahLst/>
            <a:cxnLst/>
            <a:rect r="r" b="b" t="t" l="l"/>
            <a:pathLst>
              <a:path h="2119232" w="1854328">
                <a:moveTo>
                  <a:pt x="0" y="0"/>
                </a:moveTo>
                <a:lnTo>
                  <a:pt x="1854328" y="0"/>
                </a:lnTo>
                <a:lnTo>
                  <a:pt x="1854328" y="2119232"/>
                </a:lnTo>
                <a:lnTo>
                  <a:pt x="0" y="2119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229114" y="8006718"/>
            <a:ext cx="2058867" cy="2058867"/>
          </a:xfrm>
          <a:custGeom>
            <a:avLst/>
            <a:gdLst/>
            <a:ahLst/>
            <a:cxnLst/>
            <a:rect r="r" b="b" t="t" l="l"/>
            <a:pathLst>
              <a:path h="2058867" w="2058867">
                <a:moveTo>
                  <a:pt x="0" y="0"/>
                </a:moveTo>
                <a:lnTo>
                  <a:pt x="2058867" y="0"/>
                </a:lnTo>
                <a:lnTo>
                  <a:pt x="2058867" y="2058866"/>
                </a:lnTo>
                <a:lnTo>
                  <a:pt x="0" y="2058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08628" y="196220"/>
            <a:ext cx="531735" cy="531735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4685784" y="8463638"/>
            <a:ext cx="670804" cy="2470353"/>
            <a:chOff x="0" y="0"/>
            <a:chExt cx="297510" cy="1095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7510" cy="1095634"/>
            </a:xfrm>
            <a:custGeom>
              <a:avLst/>
              <a:gdLst/>
              <a:ahLst/>
              <a:cxnLst/>
              <a:rect r="r" b="b" t="t" l="l"/>
              <a:pathLst>
                <a:path h="1095634" w="297510">
                  <a:moveTo>
                    <a:pt x="0" y="0"/>
                  </a:moveTo>
                  <a:lnTo>
                    <a:pt x="297510" y="0"/>
                  </a:lnTo>
                  <a:lnTo>
                    <a:pt x="297510" y="1095634"/>
                  </a:lnTo>
                  <a:lnTo>
                    <a:pt x="0" y="109563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97510" cy="112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58342" y="7247799"/>
            <a:ext cx="4851630" cy="2229134"/>
            <a:chOff x="0" y="0"/>
            <a:chExt cx="7567307" cy="347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67307" cy="3476881"/>
            </a:xfrm>
            <a:custGeom>
              <a:avLst/>
              <a:gdLst/>
              <a:ahLst/>
              <a:cxnLst/>
              <a:rect r="r" b="b" t="t" l="l"/>
              <a:pathLst>
                <a:path h="3476881" w="7567307">
                  <a:moveTo>
                    <a:pt x="1964473" y="0"/>
                  </a:moveTo>
                  <a:lnTo>
                    <a:pt x="6927113" y="0"/>
                  </a:lnTo>
                  <a:cubicBezTo>
                    <a:pt x="7281263" y="0"/>
                    <a:pt x="7567307" y="218971"/>
                    <a:pt x="7567307" y="490077"/>
                  </a:cubicBezTo>
                  <a:lnTo>
                    <a:pt x="7567307" y="2249951"/>
                  </a:lnTo>
                  <a:cubicBezTo>
                    <a:pt x="7567307" y="2521057"/>
                    <a:pt x="7281263" y="2740028"/>
                    <a:pt x="6927113" y="2740028"/>
                  </a:cubicBezTo>
                  <a:lnTo>
                    <a:pt x="5661859" y="2740028"/>
                  </a:lnTo>
                  <a:cubicBezTo>
                    <a:pt x="5466623" y="2740028"/>
                    <a:pt x="5280467" y="2808384"/>
                    <a:pt x="5159390" y="2926558"/>
                  </a:cubicBezTo>
                  <a:lnTo>
                    <a:pt x="4782538" y="3290351"/>
                  </a:lnTo>
                  <a:cubicBezTo>
                    <a:pt x="4661461" y="3407367"/>
                    <a:pt x="4476819" y="3476881"/>
                    <a:pt x="4280069" y="3476881"/>
                  </a:cubicBezTo>
                  <a:lnTo>
                    <a:pt x="640194" y="3476881"/>
                  </a:lnTo>
                  <a:cubicBezTo>
                    <a:pt x="286044" y="3476881"/>
                    <a:pt x="0" y="3257911"/>
                    <a:pt x="0" y="2986804"/>
                  </a:cubicBezTo>
                  <a:lnTo>
                    <a:pt x="0" y="1254736"/>
                  </a:lnTo>
                  <a:cubicBezTo>
                    <a:pt x="0" y="1100646"/>
                    <a:pt x="93835" y="955824"/>
                    <a:pt x="254262" y="863138"/>
                  </a:cubicBezTo>
                  <a:lnTo>
                    <a:pt x="1578540" y="98479"/>
                  </a:lnTo>
                  <a:cubicBezTo>
                    <a:pt x="1689023" y="34757"/>
                    <a:pt x="1825235" y="0"/>
                    <a:pt x="196447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045" r="0" b="-3523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24980" y="295549"/>
            <a:ext cx="10299950" cy="174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sz="7062" i="true" spc="-282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CARRITO DINÁMICO Y CONFIRMACIÓN DE PEDIDO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43691" y="196220"/>
            <a:ext cx="1166281" cy="53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58342" y="2379072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Lista Dinámica del Carrito: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58342" y="2822115"/>
            <a:ext cx="4851630" cy="9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"Despliega en tiempo real los ítems seleccionados con sus subtotales por cantidad."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58342" y="5386804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Feedback al Usuario: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58342" y="5829204"/>
            <a:ext cx="4851630" cy="9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Mensaje de confirmación en pantalla y botón dinámico (#btnOtro) para reiniciar el formulario para un nuevo pedido.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58342" y="3883259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Totalizador en Vivo: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58342" y="4326301"/>
            <a:ext cx="4851630" cy="9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"Calcula y actualiza automáticamente el monto total a pagar resaltado en azul neón."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85809" y="1317138"/>
            <a:ext cx="3744565" cy="87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5668" i="true" spc="-11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4782" y="124099"/>
            <a:ext cx="912486" cy="1042842"/>
          </a:xfrm>
          <a:custGeom>
            <a:avLst/>
            <a:gdLst/>
            <a:ahLst/>
            <a:cxnLst/>
            <a:rect r="r" b="b" t="t" l="l"/>
            <a:pathLst>
              <a:path h="1042842" w="912486">
                <a:moveTo>
                  <a:pt x="0" y="0"/>
                </a:moveTo>
                <a:lnTo>
                  <a:pt x="912487" y="0"/>
                </a:lnTo>
                <a:lnTo>
                  <a:pt x="912487" y="1042841"/>
                </a:lnTo>
                <a:lnTo>
                  <a:pt x="0" y="1042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4782" y="2188572"/>
            <a:ext cx="12990089" cy="6554632"/>
          </a:xfrm>
          <a:custGeom>
            <a:avLst/>
            <a:gdLst/>
            <a:ahLst/>
            <a:cxnLst/>
            <a:rect r="r" b="b" t="t" l="l"/>
            <a:pathLst>
              <a:path h="6554632" w="12990089">
                <a:moveTo>
                  <a:pt x="0" y="0"/>
                </a:moveTo>
                <a:lnTo>
                  <a:pt x="12990089" y="0"/>
                </a:lnTo>
                <a:lnTo>
                  <a:pt x="12990089" y="6554633"/>
                </a:lnTo>
                <a:lnTo>
                  <a:pt x="0" y="65546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4782" y="8641008"/>
            <a:ext cx="12837698" cy="1083105"/>
          </a:xfrm>
          <a:custGeom>
            <a:avLst/>
            <a:gdLst/>
            <a:ahLst/>
            <a:cxnLst/>
            <a:rect r="r" b="b" t="t" l="l"/>
            <a:pathLst>
              <a:path h="1083105" w="12837698">
                <a:moveTo>
                  <a:pt x="0" y="0"/>
                </a:moveTo>
                <a:lnTo>
                  <a:pt x="12837698" y="0"/>
                </a:lnTo>
                <a:lnTo>
                  <a:pt x="12837698" y="1083104"/>
                </a:lnTo>
                <a:lnTo>
                  <a:pt x="0" y="10831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7" r="-1187" b="-127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9539" y="1028700"/>
            <a:ext cx="1097758" cy="1097758"/>
          </a:xfrm>
          <a:custGeom>
            <a:avLst/>
            <a:gdLst/>
            <a:ahLst/>
            <a:cxnLst/>
            <a:rect r="r" b="b" t="t" l="l"/>
            <a:pathLst>
              <a:path h="1097758" w="1097758">
                <a:moveTo>
                  <a:pt x="0" y="0"/>
                </a:moveTo>
                <a:lnTo>
                  <a:pt x="1097759" y="0"/>
                </a:lnTo>
                <a:lnTo>
                  <a:pt x="1097759" y="1097758"/>
                </a:lnTo>
                <a:lnTo>
                  <a:pt x="0" y="10977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02243" y="155647"/>
            <a:ext cx="524160" cy="524160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14348" y="228905"/>
            <a:ext cx="1399642" cy="1599590"/>
          </a:xfrm>
          <a:custGeom>
            <a:avLst/>
            <a:gdLst/>
            <a:ahLst/>
            <a:cxnLst/>
            <a:rect r="r" b="b" t="t" l="l"/>
            <a:pathLst>
              <a:path h="1599590" w="1399642">
                <a:moveTo>
                  <a:pt x="0" y="0"/>
                </a:moveTo>
                <a:lnTo>
                  <a:pt x="1399641" y="0"/>
                </a:lnTo>
                <a:lnTo>
                  <a:pt x="1399641" y="1599590"/>
                </a:lnTo>
                <a:lnTo>
                  <a:pt x="0" y="159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00000">
            <a:off x="16165929" y="8208914"/>
            <a:ext cx="823961" cy="2821855"/>
            <a:chOff x="0" y="0"/>
            <a:chExt cx="448485" cy="15359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485" cy="1535945"/>
            </a:xfrm>
            <a:custGeom>
              <a:avLst/>
              <a:gdLst/>
              <a:ahLst/>
              <a:cxnLst/>
              <a:rect r="r" b="b" t="t" l="l"/>
              <a:pathLst>
                <a:path h="1535945" w="448485">
                  <a:moveTo>
                    <a:pt x="0" y="0"/>
                  </a:moveTo>
                  <a:lnTo>
                    <a:pt x="448485" y="0"/>
                  </a:lnTo>
                  <a:lnTo>
                    <a:pt x="448485" y="1535945"/>
                  </a:lnTo>
                  <a:lnTo>
                    <a:pt x="0" y="153594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48485" cy="156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166983" y="5558497"/>
            <a:ext cx="2821855" cy="3975563"/>
            <a:chOff x="0" y="0"/>
            <a:chExt cx="450723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59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50596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5"/>
              <a:stretch>
                <a:fillRect l="-55561" t="0" r="-55561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166983" y="8600900"/>
            <a:ext cx="351684" cy="351684"/>
          </a:xfrm>
          <a:custGeom>
            <a:avLst/>
            <a:gdLst/>
            <a:ahLst/>
            <a:cxnLst/>
            <a:rect r="r" b="b" t="t" l="l"/>
            <a:pathLst>
              <a:path h="351684" w="351684">
                <a:moveTo>
                  <a:pt x="0" y="0"/>
                </a:moveTo>
                <a:lnTo>
                  <a:pt x="351684" y="0"/>
                </a:lnTo>
                <a:lnTo>
                  <a:pt x="351684" y="351684"/>
                </a:lnTo>
                <a:lnTo>
                  <a:pt x="0" y="351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048353" y="3262408"/>
            <a:ext cx="2624460" cy="2507470"/>
            <a:chOff x="0" y="0"/>
            <a:chExt cx="769616" cy="7353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9616" cy="735307"/>
            </a:xfrm>
            <a:custGeom>
              <a:avLst/>
              <a:gdLst/>
              <a:ahLst/>
              <a:cxnLst/>
              <a:rect r="r" b="b" t="t" l="l"/>
              <a:pathLst>
                <a:path h="735307" w="769616">
                  <a:moveTo>
                    <a:pt x="769616" y="150445"/>
                  </a:moveTo>
                  <a:lnTo>
                    <a:pt x="769616" y="584862"/>
                  </a:lnTo>
                  <a:cubicBezTo>
                    <a:pt x="769616" y="624763"/>
                    <a:pt x="753765" y="663029"/>
                    <a:pt x="725551" y="691243"/>
                  </a:cubicBezTo>
                  <a:cubicBezTo>
                    <a:pt x="697337" y="719457"/>
                    <a:pt x="659071" y="735307"/>
                    <a:pt x="619170" y="735307"/>
                  </a:cubicBezTo>
                  <a:lnTo>
                    <a:pt x="150445" y="735307"/>
                  </a:lnTo>
                  <a:cubicBezTo>
                    <a:pt x="67357" y="735307"/>
                    <a:pt x="0" y="667951"/>
                    <a:pt x="0" y="584862"/>
                  </a:cubicBezTo>
                  <a:lnTo>
                    <a:pt x="0" y="150445"/>
                  </a:lnTo>
                  <a:cubicBezTo>
                    <a:pt x="0" y="67357"/>
                    <a:pt x="67357" y="0"/>
                    <a:pt x="150445" y="0"/>
                  </a:cubicBezTo>
                  <a:lnTo>
                    <a:pt x="619170" y="0"/>
                  </a:lnTo>
                  <a:cubicBezTo>
                    <a:pt x="702259" y="0"/>
                    <a:pt x="769616" y="67357"/>
                    <a:pt x="769616" y="150445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69616" cy="73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47327" y="4487321"/>
            <a:ext cx="1868918" cy="1282557"/>
            <a:chOff x="0" y="0"/>
            <a:chExt cx="868700" cy="596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8700" cy="596151"/>
            </a:xfrm>
            <a:custGeom>
              <a:avLst/>
              <a:gdLst/>
              <a:ahLst/>
              <a:cxnLst/>
              <a:rect r="r" b="b" t="t" l="l"/>
              <a:pathLst>
                <a:path h="596151" w="868700">
                  <a:moveTo>
                    <a:pt x="0" y="0"/>
                  </a:moveTo>
                  <a:lnTo>
                    <a:pt x="868700" y="0"/>
                  </a:lnTo>
                  <a:lnTo>
                    <a:pt x="868700" y="596151"/>
                  </a:lnTo>
                  <a:lnTo>
                    <a:pt x="0" y="596151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68700" cy="624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30212" y="2021956"/>
            <a:ext cx="4142601" cy="3744911"/>
            <a:chOff x="0" y="0"/>
            <a:chExt cx="6350000" cy="5740400"/>
          </a:xfrm>
        </p:grpSpPr>
        <p:sp>
          <p:nvSpPr>
            <p:cNvPr name="Freeform 20" id="20"/>
            <p:cNvSpPr/>
            <p:nvPr/>
          </p:nvSpPr>
          <p:spPr>
            <a:xfrm flipH="tru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6351270" y="542290"/>
                  </a:moveTo>
                  <a:lnTo>
                    <a:pt x="6351270" y="2392680"/>
                  </a:lnTo>
                  <a:cubicBezTo>
                    <a:pt x="6351270" y="2691130"/>
                    <a:pt x="6108700" y="2933700"/>
                    <a:pt x="5808980" y="2933700"/>
                  </a:cubicBezTo>
                  <a:lnTo>
                    <a:pt x="5203190" y="2933700"/>
                  </a:lnTo>
                  <a:cubicBezTo>
                    <a:pt x="4903470" y="2933700"/>
                    <a:pt x="4660900" y="3176270"/>
                    <a:pt x="4660900" y="3475990"/>
                  </a:cubicBezTo>
                  <a:lnTo>
                    <a:pt x="4660900" y="5199380"/>
                  </a:lnTo>
                  <a:cubicBezTo>
                    <a:pt x="4660900" y="5499100"/>
                    <a:pt x="4418330" y="5741670"/>
                    <a:pt x="4118610" y="5741670"/>
                  </a:cubicBezTo>
                  <a:lnTo>
                    <a:pt x="2752090" y="5741670"/>
                  </a:lnTo>
                  <a:cubicBezTo>
                    <a:pt x="2616200" y="5741670"/>
                    <a:pt x="2484120" y="5689600"/>
                    <a:pt x="2383790" y="5598160"/>
                  </a:cubicBezTo>
                  <a:lnTo>
                    <a:pt x="173990" y="3553460"/>
                  </a:lnTo>
                  <a:cubicBezTo>
                    <a:pt x="63500" y="3450590"/>
                    <a:pt x="0" y="3307080"/>
                    <a:pt x="0" y="3155950"/>
                  </a:cubicBezTo>
                  <a:lnTo>
                    <a:pt x="0" y="542290"/>
                  </a:lnTo>
                  <a:cubicBezTo>
                    <a:pt x="1270" y="242570"/>
                    <a:pt x="243840" y="0"/>
                    <a:pt x="543560" y="0"/>
                  </a:cubicBezTo>
                  <a:lnTo>
                    <a:pt x="5808980" y="0"/>
                  </a:lnTo>
                  <a:cubicBezTo>
                    <a:pt x="6108700" y="0"/>
                    <a:pt x="6351270" y="242570"/>
                    <a:pt x="6351270" y="542290"/>
                  </a:cubicBezTo>
                  <a:close/>
                </a:path>
              </a:pathLst>
            </a:custGeom>
            <a:blipFill>
              <a:blip r:embed="rId8"/>
              <a:stretch>
                <a:fillRect l="-17843" t="0" r="-17843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4011960" y="5196872"/>
            <a:ext cx="411827" cy="411827"/>
          </a:xfrm>
          <a:custGeom>
            <a:avLst/>
            <a:gdLst/>
            <a:ahLst/>
            <a:cxnLst/>
            <a:rect r="r" b="b" t="t" l="l"/>
            <a:pathLst>
              <a:path h="411827" w="411827">
                <a:moveTo>
                  <a:pt x="0" y="0"/>
                </a:moveTo>
                <a:lnTo>
                  <a:pt x="411826" y="0"/>
                </a:lnTo>
                <a:lnTo>
                  <a:pt x="411826" y="411826"/>
                </a:lnTo>
                <a:lnTo>
                  <a:pt x="0" y="411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14348" y="2309242"/>
            <a:ext cx="8542422" cy="7635262"/>
          </a:xfrm>
          <a:custGeom>
            <a:avLst/>
            <a:gdLst/>
            <a:ahLst/>
            <a:cxnLst/>
            <a:rect r="r" b="b" t="t" l="l"/>
            <a:pathLst>
              <a:path h="7635262" w="8542422">
                <a:moveTo>
                  <a:pt x="0" y="0"/>
                </a:moveTo>
                <a:lnTo>
                  <a:pt x="8542422" y="0"/>
                </a:lnTo>
                <a:lnTo>
                  <a:pt x="8542422" y="7635263"/>
                </a:lnTo>
                <a:lnTo>
                  <a:pt x="0" y="76352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649121" y="374346"/>
            <a:ext cx="10005354" cy="150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4"/>
              </a:lnSpc>
            </a:pPr>
            <a:r>
              <a:rPr lang="en-US" sz="6099" i="true" spc="-243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UBICACIÓN (GOOGLE MAPS) Y FOOTER CORPORATIVO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926834" y="155647"/>
            <a:ext cx="1149667" cy="5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58326" y="2459966"/>
            <a:ext cx="3039167" cy="249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64"/>
              </a:lnSpc>
            </a:pPr>
            <a:r>
              <a:rPr lang="en-US" sz="8220" i="true" spc="-164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49171" y="5960186"/>
            <a:ext cx="371141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Geolocalización Embebida: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9171" y="6305446"/>
            <a:ext cx="538816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Google Maps mediante etiqueta &lt;iframe&gt; responsiva para ubicar el restaurante en el mapa.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49171" y="7334146"/>
            <a:ext cx="377688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Redes y Contacto: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49171" y="7734196"/>
            <a:ext cx="538816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Enlaces externos directos a Instagram y TikTok configurados para abrirse en pestañas independientes (target="_blank").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49171" y="8762896"/>
            <a:ext cx="456870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Sección de Marcas Referenciales: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47320" y="9198335"/>
            <a:ext cx="538816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Rejilla flexible (display: grid) que destaca a competidores y referencias del sector gastronómico peruano.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21395" y="183823"/>
            <a:ext cx="590150" cy="590150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7625789" y="9260976"/>
            <a:ext cx="2283135" cy="837823"/>
            <a:chOff x="0" y="0"/>
            <a:chExt cx="2516217" cy="9233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6217" cy="923355"/>
            </a:xfrm>
            <a:custGeom>
              <a:avLst/>
              <a:gdLst/>
              <a:ahLst/>
              <a:cxnLst/>
              <a:rect r="r" b="b" t="t" l="l"/>
              <a:pathLst>
                <a:path h="923355" w="2516217">
                  <a:moveTo>
                    <a:pt x="0" y="0"/>
                  </a:moveTo>
                  <a:lnTo>
                    <a:pt x="2516217" y="0"/>
                  </a:lnTo>
                  <a:lnTo>
                    <a:pt x="2516217" y="923355"/>
                  </a:lnTo>
                  <a:lnTo>
                    <a:pt x="0" y="92335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516217" cy="951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5789" y="8666566"/>
            <a:ext cx="2009530" cy="1432233"/>
            <a:chOff x="0" y="0"/>
            <a:chExt cx="7067255" cy="50369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505" y="0"/>
              <a:ext cx="7061336" cy="5036976"/>
            </a:xfrm>
            <a:custGeom>
              <a:avLst/>
              <a:gdLst/>
              <a:ahLst/>
              <a:cxnLst/>
              <a:rect r="r" b="b" t="t" l="l"/>
              <a:pathLst>
                <a:path h="5036976" w="7061336">
                  <a:moveTo>
                    <a:pt x="1271841" y="343012"/>
                  </a:moveTo>
                  <a:lnTo>
                    <a:pt x="117052" y="1867631"/>
                  </a:lnTo>
                  <a:cubicBezTo>
                    <a:pt x="-73085" y="2128407"/>
                    <a:pt x="-29905" y="2457352"/>
                    <a:pt x="234368" y="2679174"/>
                  </a:cubicBezTo>
                  <a:lnTo>
                    <a:pt x="2806849" y="4815155"/>
                  </a:lnTo>
                  <a:cubicBezTo>
                    <a:pt x="2976463" y="4956904"/>
                    <a:pt x="3216750" y="5036976"/>
                    <a:pt x="3466930" y="5036976"/>
                  </a:cubicBezTo>
                  <a:lnTo>
                    <a:pt x="6162381" y="5036976"/>
                  </a:lnTo>
                  <a:cubicBezTo>
                    <a:pt x="6658503" y="5036976"/>
                    <a:pt x="7061336" y="4728590"/>
                    <a:pt x="7061336" y="4348788"/>
                  </a:cubicBezTo>
                  <a:lnTo>
                    <a:pt x="7061336" y="1611183"/>
                  </a:lnTo>
                  <a:cubicBezTo>
                    <a:pt x="7061336" y="1469434"/>
                    <a:pt x="7004798" y="1330930"/>
                    <a:pt x="6897376" y="1215150"/>
                  </a:cubicBezTo>
                  <a:lnTo>
                    <a:pt x="6049305" y="292155"/>
                  </a:lnTo>
                  <a:cubicBezTo>
                    <a:pt x="5881105" y="109288"/>
                    <a:pt x="5606895" y="0"/>
                    <a:pt x="5314311" y="0"/>
                  </a:cubicBezTo>
                  <a:lnTo>
                    <a:pt x="2049239" y="0"/>
                  </a:lnTo>
                  <a:cubicBezTo>
                    <a:pt x="1728386" y="0"/>
                    <a:pt x="1431561" y="130929"/>
                    <a:pt x="1271841" y="343012"/>
                  </a:cubicBezTo>
                  <a:close/>
                </a:path>
              </a:pathLst>
            </a:custGeom>
            <a:blipFill>
              <a:blip r:embed="rId3"/>
              <a:stretch>
                <a:fillRect l="-63" t="-15319" r="-39803" b="-15319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17775" y="2860502"/>
            <a:ext cx="7245921" cy="6210790"/>
          </a:xfrm>
          <a:custGeom>
            <a:avLst/>
            <a:gdLst/>
            <a:ahLst/>
            <a:cxnLst/>
            <a:rect r="r" b="b" t="t" l="l"/>
            <a:pathLst>
              <a:path h="6210790" w="7245921">
                <a:moveTo>
                  <a:pt x="0" y="0"/>
                </a:moveTo>
                <a:lnTo>
                  <a:pt x="7245921" y="0"/>
                </a:lnTo>
                <a:lnTo>
                  <a:pt x="7245921" y="6210790"/>
                </a:lnTo>
                <a:lnTo>
                  <a:pt x="0" y="6210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60828" y="3332386"/>
            <a:ext cx="8227172" cy="5013433"/>
          </a:xfrm>
          <a:custGeom>
            <a:avLst/>
            <a:gdLst/>
            <a:ahLst/>
            <a:cxnLst/>
            <a:rect r="r" b="b" t="t" l="l"/>
            <a:pathLst>
              <a:path h="5013433" w="8227172">
                <a:moveTo>
                  <a:pt x="0" y="0"/>
                </a:moveTo>
                <a:lnTo>
                  <a:pt x="8227172" y="0"/>
                </a:lnTo>
                <a:lnTo>
                  <a:pt x="8227172" y="5013433"/>
                </a:lnTo>
                <a:lnTo>
                  <a:pt x="0" y="5013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78896" y="389161"/>
            <a:ext cx="8930207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6000" i="true" spc="-240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ESTILOS BASE, PORTADA NEÓN Y CAJAS INFORMATIVAS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6996" y="1966642"/>
            <a:ext cx="144072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3916" i="true" spc="-78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21312" y="3461794"/>
            <a:ext cx="228313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b="true" sz="1677" i="true" spc="-33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Estética Dark Mode con Sombra Neón: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21312" y="4105553"/>
            <a:ext cx="2283135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Aplicación de fondo oscuro global (#111) y resplandor naranja neón mediante box-shadow: 0 0 20px #ff450044 en la imagen de portada.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25789" y="5956372"/>
            <a:ext cx="200953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b="true" sz="1677" i="true" spc="-33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Bordes de Acentuación Personalizados: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37211" y="183823"/>
            <a:ext cx="1294407" cy="5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971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365"/>
              </a:lnSpc>
            </a:pPr>
            <a:r>
              <a:rPr lang="en-US" sz="1971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20695" y="6859919"/>
            <a:ext cx="228313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spc="-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Uso de la propiedad border-left: 4px solid #ff4500 para resaltar visualmente las secciones informativas principales.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99851" y="255811"/>
            <a:ext cx="1457698" cy="1822123"/>
          </a:xfrm>
          <a:custGeom>
            <a:avLst/>
            <a:gdLst/>
            <a:ahLst/>
            <a:cxnLst/>
            <a:rect r="r" b="b" t="t" l="l"/>
            <a:pathLst>
              <a:path h="1822123" w="1457698">
                <a:moveTo>
                  <a:pt x="0" y="0"/>
                </a:moveTo>
                <a:lnTo>
                  <a:pt x="1457698" y="0"/>
                </a:lnTo>
                <a:lnTo>
                  <a:pt x="1457698" y="1822123"/>
                </a:lnTo>
                <a:lnTo>
                  <a:pt x="0" y="18221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21395" y="183823"/>
            <a:ext cx="590150" cy="590150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8002433" y="9042469"/>
            <a:ext cx="3092044" cy="1134662"/>
            <a:chOff x="0" y="0"/>
            <a:chExt cx="2516217" cy="9233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6217" cy="923355"/>
            </a:xfrm>
            <a:custGeom>
              <a:avLst/>
              <a:gdLst/>
              <a:ahLst/>
              <a:cxnLst/>
              <a:rect r="r" b="b" t="t" l="l"/>
              <a:pathLst>
                <a:path h="923355" w="2516217">
                  <a:moveTo>
                    <a:pt x="0" y="0"/>
                  </a:moveTo>
                  <a:lnTo>
                    <a:pt x="2516217" y="0"/>
                  </a:lnTo>
                  <a:lnTo>
                    <a:pt x="2516217" y="923355"/>
                  </a:lnTo>
                  <a:lnTo>
                    <a:pt x="0" y="92335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516217" cy="951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02433" y="8237461"/>
            <a:ext cx="2721502" cy="1939670"/>
            <a:chOff x="0" y="0"/>
            <a:chExt cx="7067255" cy="50369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505" y="0"/>
              <a:ext cx="7061336" cy="5036976"/>
            </a:xfrm>
            <a:custGeom>
              <a:avLst/>
              <a:gdLst/>
              <a:ahLst/>
              <a:cxnLst/>
              <a:rect r="r" b="b" t="t" l="l"/>
              <a:pathLst>
                <a:path h="5036976" w="7061336">
                  <a:moveTo>
                    <a:pt x="1271841" y="343012"/>
                  </a:moveTo>
                  <a:lnTo>
                    <a:pt x="117052" y="1867631"/>
                  </a:lnTo>
                  <a:cubicBezTo>
                    <a:pt x="-73085" y="2128407"/>
                    <a:pt x="-29905" y="2457352"/>
                    <a:pt x="234368" y="2679174"/>
                  </a:cubicBezTo>
                  <a:lnTo>
                    <a:pt x="2806849" y="4815155"/>
                  </a:lnTo>
                  <a:cubicBezTo>
                    <a:pt x="2976463" y="4956904"/>
                    <a:pt x="3216750" y="5036976"/>
                    <a:pt x="3466930" y="5036976"/>
                  </a:cubicBezTo>
                  <a:lnTo>
                    <a:pt x="6162381" y="5036976"/>
                  </a:lnTo>
                  <a:cubicBezTo>
                    <a:pt x="6658503" y="5036976"/>
                    <a:pt x="7061336" y="4728590"/>
                    <a:pt x="7061336" y="4348788"/>
                  </a:cubicBezTo>
                  <a:lnTo>
                    <a:pt x="7061336" y="1611183"/>
                  </a:lnTo>
                  <a:cubicBezTo>
                    <a:pt x="7061336" y="1469434"/>
                    <a:pt x="7004798" y="1330930"/>
                    <a:pt x="6897376" y="1215150"/>
                  </a:cubicBezTo>
                  <a:lnTo>
                    <a:pt x="6049305" y="292155"/>
                  </a:lnTo>
                  <a:cubicBezTo>
                    <a:pt x="5881105" y="109288"/>
                    <a:pt x="5606895" y="0"/>
                    <a:pt x="5314311" y="0"/>
                  </a:cubicBezTo>
                  <a:lnTo>
                    <a:pt x="2049239" y="0"/>
                  </a:lnTo>
                  <a:cubicBezTo>
                    <a:pt x="1728386" y="0"/>
                    <a:pt x="1431561" y="130929"/>
                    <a:pt x="1271841" y="343012"/>
                  </a:cubicBezTo>
                  <a:close/>
                </a:path>
              </a:pathLst>
            </a:custGeom>
            <a:blipFill>
              <a:blip r:embed="rId3"/>
              <a:stretch>
                <a:fillRect l="-63" t="-15319" r="-39803" b="-15319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0" y="2967094"/>
            <a:ext cx="7846968" cy="5514828"/>
          </a:xfrm>
          <a:custGeom>
            <a:avLst/>
            <a:gdLst/>
            <a:ahLst/>
            <a:cxnLst/>
            <a:rect r="r" b="b" t="t" l="l"/>
            <a:pathLst>
              <a:path h="5514828" w="7846968">
                <a:moveTo>
                  <a:pt x="0" y="0"/>
                </a:moveTo>
                <a:lnTo>
                  <a:pt x="7846968" y="0"/>
                </a:lnTo>
                <a:lnTo>
                  <a:pt x="7846968" y="5514828"/>
                </a:lnTo>
                <a:lnTo>
                  <a:pt x="0" y="5514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24252" y="2967094"/>
            <a:ext cx="4192607" cy="4777750"/>
          </a:xfrm>
          <a:custGeom>
            <a:avLst/>
            <a:gdLst/>
            <a:ahLst/>
            <a:cxnLst/>
            <a:rect r="r" b="b" t="t" l="l"/>
            <a:pathLst>
              <a:path h="4777750" w="4192607">
                <a:moveTo>
                  <a:pt x="0" y="0"/>
                </a:moveTo>
                <a:lnTo>
                  <a:pt x="4192606" y="0"/>
                </a:lnTo>
                <a:lnTo>
                  <a:pt x="4192606" y="4777750"/>
                </a:lnTo>
                <a:lnTo>
                  <a:pt x="0" y="4777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05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64494" y="8184316"/>
            <a:ext cx="6512123" cy="1873771"/>
          </a:xfrm>
          <a:custGeom>
            <a:avLst/>
            <a:gdLst/>
            <a:ahLst/>
            <a:cxnLst/>
            <a:rect r="r" b="b" t="t" l="l"/>
            <a:pathLst>
              <a:path h="1873771" w="6512123">
                <a:moveTo>
                  <a:pt x="0" y="0"/>
                </a:moveTo>
                <a:lnTo>
                  <a:pt x="6512122" y="0"/>
                </a:lnTo>
                <a:lnTo>
                  <a:pt x="6512122" y="1873771"/>
                </a:lnTo>
                <a:lnTo>
                  <a:pt x="0" y="1873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678896" y="389161"/>
            <a:ext cx="8930207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6000" i="true" spc="-240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MICROINTERACCIONES,  PRECIOS E INSUMOS DEL FORMULARIO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2433" y="2164277"/>
            <a:ext cx="3092044" cy="69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9"/>
              </a:lnSpc>
            </a:pPr>
            <a:r>
              <a:rPr lang="en-US" sz="4533" i="true" spc="-9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02433" y="3160561"/>
            <a:ext cx="252766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b="true" sz="2046" i="true" spc="-40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Microinteracciones con :hover: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02433" y="4046386"/>
            <a:ext cx="309204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015" spc="-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Elevación dinámica de tarjetas al pasar el cursor usando transform: translateY(-4px) y cambio de borde a color fuego.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02433" y="5846611"/>
            <a:ext cx="309204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b="true" sz="2046" i="true" spc="-40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Enfoque de Formularios e Identidad de Precios: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37211" y="183823"/>
            <a:ext cx="1294407" cy="5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971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365"/>
              </a:lnSpc>
            </a:pPr>
            <a:r>
              <a:rPr lang="en-US" sz="1971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02433" y="6660316"/>
            <a:ext cx="309204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015" spc="-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Destacado de precios en color azul cian (#00ffff) y resplandor neón en los campos de texto activos mediante :focus.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99851" y="255811"/>
            <a:ext cx="1457698" cy="1822123"/>
          </a:xfrm>
          <a:custGeom>
            <a:avLst/>
            <a:gdLst/>
            <a:ahLst/>
            <a:cxnLst/>
            <a:rect r="r" b="b" t="t" l="l"/>
            <a:pathLst>
              <a:path h="1822123" w="1457698">
                <a:moveTo>
                  <a:pt x="0" y="0"/>
                </a:moveTo>
                <a:lnTo>
                  <a:pt x="1457698" y="0"/>
                </a:lnTo>
                <a:lnTo>
                  <a:pt x="1457698" y="1822123"/>
                </a:lnTo>
                <a:lnTo>
                  <a:pt x="0" y="18221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21395" y="183823"/>
            <a:ext cx="590150" cy="590150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7934248" y="9206839"/>
            <a:ext cx="2800879" cy="1002104"/>
            <a:chOff x="0" y="0"/>
            <a:chExt cx="2580777" cy="9233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80777" cy="923355"/>
            </a:xfrm>
            <a:custGeom>
              <a:avLst/>
              <a:gdLst/>
              <a:ahLst/>
              <a:cxnLst/>
              <a:rect r="r" b="b" t="t" l="l"/>
              <a:pathLst>
                <a:path h="923355" w="2580777">
                  <a:moveTo>
                    <a:pt x="0" y="0"/>
                  </a:moveTo>
                  <a:lnTo>
                    <a:pt x="2580777" y="0"/>
                  </a:lnTo>
                  <a:lnTo>
                    <a:pt x="2580777" y="923355"/>
                  </a:lnTo>
                  <a:lnTo>
                    <a:pt x="0" y="92335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580777" cy="951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934248" y="8495878"/>
            <a:ext cx="2465230" cy="1713066"/>
            <a:chOff x="0" y="0"/>
            <a:chExt cx="7248586" cy="50369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568" y="0"/>
              <a:ext cx="7241568" cy="5036976"/>
            </a:xfrm>
            <a:custGeom>
              <a:avLst/>
              <a:gdLst/>
              <a:ahLst/>
              <a:cxnLst/>
              <a:rect r="r" b="b" t="t" l="l"/>
              <a:pathLst>
                <a:path h="5036976" w="7241568">
                  <a:moveTo>
                    <a:pt x="1303527" y="343012"/>
                  </a:moveTo>
                  <a:lnTo>
                    <a:pt x="119108" y="1867631"/>
                  </a:lnTo>
                  <a:cubicBezTo>
                    <a:pt x="-74148" y="2128407"/>
                    <a:pt x="-30968" y="2457352"/>
                    <a:pt x="239434" y="2679174"/>
                  </a:cubicBezTo>
                  <a:lnTo>
                    <a:pt x="2877919" y="4815155"/>
                  </a:lnTo>
                  <a:cubicBezTo>
                    <a:pt x="3051885" y="4956904"/>
                    <a:pt x="3298337" y="5036976"/>
                    <a:pt x="3554937" y="5036976"/>
                  </a:cubicBezTo>
                  <a:lnTo>
                    <a:pt x="6319547" y="5036976"/>
                  </a:lnTo>
                  <a:cubicBezTo>
                    <a:pt x="6828399" y="5036976"/>
                    <a:pt x="7241568" y="4728590"/>
                    <a:pt x="7241568" y="4348788"/>
                  </a:cubicBezTo>
                  <a:lnTo>
                    <a:pt x="7241568" y="1611183"/>
                  </a:lnTo>
                  <a:cubicBezTo>
                    <a:pt x="7241568" y="1469434"/>
                    <a:pt x="7183579" y="1330930"/>
                    <a:pt x="7073401" y="1215150"/>
                  </a:cubicBezTo>
                  <a:lnTo>
                    <a:pt x="6203570" y="292155"/>
                  </a:lnTo>
                  <a:cubicBezTo>
                    <a:pt x="6031054" y="109288"/>
                    <a:pt x="5749809" y="0"/>
                    <a:pt x="5449717" y="0"/>
                  </a:cubicBezTo>
                  <a:lnTo>
                    <a:pt x="2100871" y="0"/>
                  </a:lnTo>
                  <a:cubicBezTo>
                    <a:pt x="1771785" y="0"/>
                    <a:pt x="1467345" y="130929"/>
                    <a:pt x="1303527" y="343012"/>
                  </a:cubicBezTo>
                  <a:close/>
                </a:path>
              </a:pathLst>
            </a:custGeom>
            <a:blipFill>
              <a:blip r:embed="rId3"/>
              <a:stretch>
                <a:fillRect l="-76" t="-16995" r="-39809" b="-1699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678896" y="389161"/>
            <a:ext cx="8930207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6000" i="true" spc="-240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TARJETAS DEV, FOOTER GRID Y ADAPTABILIDAD MÓVIL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34248" y="2332325"/>
            <a:ext cx="2687634" cy="62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7"/>
              </a:lnSpc>
            </a:pPr>
            <a:r>
              <a:rPr lang="en-US" sz="4148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11770" y="3187403"/>
            <a:ext cx="215373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b="true" sz="1777" i="true" spc="-35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Maquetación con CSS Grid: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89293" y="3950315"/>
            <a:ext cx="28233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Organización del pie de página mediante display: grid con 3 columnas simétricas (repeat(3, 1fr)) para las empresas referenciales.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34248" y="5894484"/>
            <a:ext cx="248501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b="true" sz="1777" i="true" spc="-35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Reglas @media queries Responsivas: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37211" y="183823"/>
            <a:ext cx="1294407" cy="5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971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365"/>
              </a:lnSpc>
            </a:pPr>
            <a:r>
              <a:rPr lang="en-US" sz="1971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11770" y="6771853"/>
            <a:ext cx="28233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Adaptación para móviles (max-width: 600px), reorganizando las filas en una sola columna (1fr) y reduciendo el tamaño de encabezados y portadas.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0" y="3017273"/>
            <a:ext cx="7761329" cy="5396549"/>
          </a:xfrm>
          <a:custGeom>
            <a:avLst/>
            <a:gdLst/>
            <a:ahLst/>
            <a:cxnLst/>
            <a:rect r="r" b="b" t="t" l="l"/>
            <a:pathLst>
              <a:path h="5396549" w="7761329">
                <a:moveTo>
                  <a:pt x="0" y="0"/>
                </a:moveTo>
                <a:lnTo>
                  <a:pt x="7761329" y="0"/>
                </a:lnTo>
                <a:lnTo>
                  <a:pt x="7761329" y="5396549"/>
                </a:lnTo>
                <a:lnTo>
                  <a:pt x="0" y="539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85569" y="3252357"/>
            <a:ext cx="7402431" cy="3012487"/>
          </a:xfrm>
          <a:custGeom>
            <a:avLst/>
            <a:gdLst/>
            <a:ahLst/>
            <a:cxnLst/>
            <a:rect r="r" b="b" t="t" l="l"/>
            <a:pathLst>
              <a:path h="3012487" w="7402431">
                <a:moveTo>
                  <a:pt x="0" y="0"/>
                </a:moveTo>
                <a:lnTo>
                  <a:pt x="7402431" y="0"/>
                </a:lnTo>
                <a:lnTo>
                  <a:pt x="7402431" y="3012488"/>
                </a:lnTo>
                <a:lnTo>
                  <a:pt x="0" y="3012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885569" y="6264845"/>
            <a:ext cx="7402431" cy="1498111"/>
          </a:xfrm>
          <a:custGeom>
            <a:avLst/>
            <a:gdLst/>
            <a:ahLst/>
            <a:cxnLst/>
            <a:rect r="r" b="b" t="t" l="l"/>
            <a:pathLst>
              <a:path h="1498111" w="7402431">
                <a:moveTo>
                  <a:pt x="0" y="0"/>
                </a:moveTo>
                <a:lnTo>
                  <a:pt x="7402431" y="0"/>
                </a:lnTo>
                <a:lnTo>
                  <a:pt x="7402431" y="1498111"/>
                </a:lnTo>
                <a:lnTo>
                  <a:pt x="0" y="1498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99851" y="255811"/>
            <a:ext cx="1457698" cy="1822123"/>
          </a:xfrm>
          <a:custGeom>
            <a:avLst/>
            <a:gdLst/>
            <a:ahLst/>
            <a:cxnLst/>
            <a:rect r="r" b="b" t="t" l="l"/>
            <a:pathLst>
              <a:path h="1822123" w="1457698">
                <a:moveTo>
                  <a:pt x="0" y="0"/>
                </a:moveTo>
                <a:lnTo>
                  <a:pt x="1457698" y="0"/>
                </a:lnTo>
                <a:lnTo>
                  <a:pt x="1457698" y="1822123"/>
                </a:lnTo>
                <a:lnTo>
                  <a:pt x="0" y="18221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47610" y="0"/>
            <a:ext cx="621796" cy="621796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729037" y="6021077"/>
            <a:ext cx="6336268" cy="84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"/>
              </a:lnSpc>
            </a:pPr>
            <a:r>
              <a:rPr lang="en-US" sz="1872" spc="-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Detecta si el menú hamburguesa de Bootstrap está abierto </a:t>
            </a:r>
            <a:r>
              <a:rPr lang="en-US" b="true" sz="1872" spc="-3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(.show)</a:t>
            </a:r>
            <a:r>
              <a:rPr lang="en-US" sz="1872" spc="-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y lo colapsa automáticamente al seleccionar una opción.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472950" y="8190101"/>
            <a:ext cx="2007897" cy="1918391"/>
            <a:chOff x="0" y="0"/>
            <a:chExt cx="769616" cy="735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9616" cy="735307"/>
            </a:xfrm>
            <a:custGeom>
              <a:avLst/>
              <a:gdLst/>
              <a:ahLst/>
              <a:cxnLst/>
              <a:rect r="r" b="b" t="t" l="l"/>
              <a:pathLst>
                <a:path h="735307" w="769616">
                  <a:moveTo>
                    <a:pt x="769616" y="196643"/>
                  </a:moveTo>
                  <a:lnTo>
                    <a:pt x="769616" y="538665"/>
                  </a:lnTo>
                  <a:cubicBezTo>
                    <a:pt x="769616" y="590818"/>
                    <a:pt x="748898" y="640835"/>
                    <a:pt x="712020" y="677712"/>
                  </a:cubicBezTo>
                  <a:cubicBezTo>
                    <a:pt x="675143" y="714590"/>
                    <a:pt x="625126" y="735307"/>
                    <a:pt x="572973" y="735307"/>
                  </a:cubicBezTo>
                  <a:lnTo>
                    <a:pt x="196643" y="735307"/>
                  </a:lnTo>
                  <a:cubicBezTo>
                    <a:pt x="88040" y="735307"/>
                    <a:pt x="0" y="647268"/>
                    <a:pt x="0" y="538665"/>
                  </a:cubicBezTo>
                  <a:lnTo>
                    <a:pt x="0" y="196643"/>
                  </a:lnTo>
                  <a:cubicBezTo>
                    <a:pt x="0" y="144490"/>
                    <a:pt x="20718" y="94473"/>
                    <a:pt x="57595" y="57595"/>
                  </a:cubicBezTo>
                  <a:cubicBezTo>
                    <a:pt x="94473" y="20718"/>
                    <a:pt x="144490" y="0"/>
                    <a:pt x="196643" y="0"/>
                  </a:cubicBezTo>
                  <a:lnTo>
                    <a:pt x="572973" y="0"/>
                  </a:lnTo>
                  <a:cubicBezTo>
                    <a:pt x="681576" y="0"/>
                    <a:pt x="769616" y="88040"/>
                    <a:pt x="769616" y="196643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769616" cy="73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65516" y="9127246"/>
            <a:ext cx="1429854" cy="981246"/>
            <a:chOff x="0" y="0"/>
            <a:chExt cx="868700" cy="5961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8700" cy="596151"/>
            </a:xfrm>
            <a:custGeom>
              <a:avLst/>
              <a:gdLst/>
              <a:ahLst/>
              <a:cxnLst/>
              <a:rect r="r" b="b" t="t" l="l"/>
              <a:pathLst>
                <a:path h="596151" w="868700">
                  <a:moveTo>
                    <a:pt x="0" y="0"/>
                  </a:moveTo>
                  <a:lnTo>
                    <a:pt x="868700" y="0"/>
                  </a:lnTo>
                  <a:lnTo>
                    <a:pt x="868700" y="596151"/>
                  </a:lnTo>
                  <a:lnTo>
                    <a:pt x="0" y="596151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68700" cy="624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11465" y="7241068"/>
            <a:ext cx="5480145" cy="2865121"/>
            <a:chOff x="0" y="0"/>
            <a:chExt cx="10979719" cy="5740400"/>
          </a:xfrm>
        </p:grpSpPr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10980989" cy="5741670"/>
            </a:xfrm>
            <a:custGeom>
              <a:avLst/>
              <a:gdLst/>
              <a:ahLst/>
              <a:cxnLst/>
              <a:rect r="r" b="b" t="t" l="l"/>
              <a:pathLst>
                <a:path h="5741670" w="10980989">
                  <a:moveTo>
                    <a:pt x="10980989" y="542290"/>
                  </a:moveTo>
                  <a:lnTo>
                    <a:pt x="10980989" y="2392680"/>
                  </a:lnTo>
                  <a:cubicBezTo>
                    <a:pt x="10980989" y="2691130"/>
                    <a:pt x="10561563" y="2933700"/>
                    <a:pt x="10043321" y="2933700"/>
                  </a:cubicBezTo>
                  <a:lnTo>
                    <a:pt x="8995856" y="2933700"/>
                  </a:lnTo>
                  <a:cubicBezTo>
                    <a:pt x="8477613" y="2933700"/>
                    <a:pt x="8058187" y="3176270"/>
                    <a:pt x="8058187" y="3475990"/>
                  </a:cubicBezTo>
                  <a:lnTo>
                    <a:pt x="8058187" y="5199380"/>
                  </a:lnTo>
                  <a:cubicBezTo>
                    <a:pt x="8058187" y="5499100"/>
                    <a:pt x="7638762" y="5741670"/>
                    <a:pt x="7120520" y="5741670"/>
                  </a:cubicBezTo>
                  <a:lnTo>
                    <a:pt x="4757684" y="5741670"/>
                  </a:lnTo>
                  <a:cubicBezTo>
                    <a:pt x="4522718" y="5741670"/>
                    <a:pt x="4294340" y="5689600"/>
                    <a:pt x="4120861" y="5598160"/>
                  </a:cubicBezTo>
                  <a:lnTo>
                    <a:pt x="299918" y="3553460"/>
                  </a:lnTo>
                  <a:cubicBezTo>
                    <a:pt x="108871" y="3450590"/>
                    <a:pt x="0" y="3307080"/>
                    <a:pt x="0" y="3155950"/>
                  </a:cubicBezTo>
                  <a:lnTo>
                    <a:pt x="0" y="542290"/>
                  </a:lnTo>
                  <a:cubicBezTo>
                    <a:pt x="1270" y="242570"/>
                    <a:pt x="420695" y="0"/>
                    <a:pt x="938938" y="0"/>
                  </a:cubicBezTo>
                  <a:lnTo>
                    <a:pt x="10043321" y="0"/>
                  </a:lnTo>
                  <a:cubicBezTo>
                    <a:pt x="10561563" y="0"/>
                    <a:pt x="10980989" y="242570"/>
                    <a:pt x="10980989" y="54229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2742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7466646" y="9310118"/>
            <a:ext cx="615501" cy="615501"/>
          </a:xfrm>
          <a:custGeom>
            <a:avLst/>
            <a:gdLst/>
            <a:ahLst/>
            <a:cxnLst/>
            <a:rect r="r" b="b" t="t" l="l"/>
            <a:pathLst>
              <a:path h="615501" w="615501">
                <a:moveTo>
                  <a:pt x="0" y="0"/>
                </a:moveTo>
                <a:lnTo>
                  <a:pt x="615501" y="0"/>
                </a:lnTo>
                <a:lnTo>
                  <a:pt x="615501" y="615501"/>
                </a:lnTo>
                <a:lnTo>
                  <a:pt x="0" y="615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1722" y="163238"/>
            <a:ext cx="1805350" cy="2063258"/>
          </a:xfrm>
          <a:custGeom>
            <a:avLst/>
            <a:gdLst/>
            <a:ahLst/>
            <a:cxnLst/>
            <a:rect r="r" b="b" t="t" l="l"/>
            <a:pathLst>
              <a:path h="2063258" w="1805350">
                <a:moveTo>
                  <a:pt x="0" y="0"/>
                </a:moveTo>
                <a:lnTo>
                  <a:pt x="1805351" y="0"/>
                </a:lnTo>
                <a:lnTo>
                  <a:pt x="1805351" y="2063257"/>
                </a:lnTo>
                <a:lnTo>
                  <a:pt x="0" y="20632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786983" y="4882175"/>
            <a:ext cx="6220376" cy="52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770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Permite cambiar entre Inicio, Platos, Bebidas y Pedidos de forma instantánea sin refrescar el sitio web.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86983" y="3422044"/>
            <a:ext cx="6336268" cy="84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"/>
              </a:lnSpc>
            </a:pPr>
            <a:r>
              <a:rPr lang="en-US" sz="1872" spc="-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 función </a:t>
            </a:r>
            <a:r>
              <a:rPr lang="en-US" b="true" sz="1872" spc="-3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mostrarSeccion(id)</a:t>
            </a:r>
            <a:r>
              <a:rPr lang="en-US" sz="1872" spc="-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oculta todas las secciones con </a:t>
            </a:r>
            <a:r>
              <a:rPr lang="en-US" b="true" sz="1872" spc="-3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display = "none"</a:t>
            </a:r>
            <a:r>
              <a:rPr lang="en-US" sz="1872" spc="-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y muestra únicamente la elegida con </a:t>
            </a:r>
            <a:r>
              <a:rPr lang="en-US" b="true" sz="1872" spc="-3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display = "block"</a:t>
            </a:r>
            <a:r>
              <a:rPr lang="en-US" sz="1872" spc="-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86983" y="2691978"/>
            <a:ext cx="4634961" cy="5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b="true" sz="1874" i="true" spc="-3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Navegación Single Page Application (SPA):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50456" y="4434401"/>
            <a:ext cx="4315696" cy="282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b="true" sz="1874" i="true" spc="-3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Experiencia Fluida sin Recarga: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50456" y="5573304"/>
            <a:ext cx="4967955" cy="282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b="true" sz="1874" i="true" spc="-3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Auto-cierre del Menú Móvil: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571496" y="2536081"/>
            <a:ext cx="6551755" cy="4553240"/>
            <a:chOff x="0" y="0"/>
            <a:chExt cx="629309" cy="4373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9309" cy="437347"/>
            </a:xfrm>
            <a:custGeom>
              <a:avLst/>
              <a:gdLst/>
              <a:ahLst/>
              <a:cxnLst/>
              <a:rect r="r" b="b" t="t" l="l"/>
              <a:pathLst>
                <a:path h="437347" w="629309">
                  <a:moveTo>
                    <a:pt x="629309" y="60264"/>
                  </a:moveTo>
                  <a:lnTo>
                    <a:pt x="629309" y="377083"/>
                  </a:lnTo>
                  <a:cubicBezTo>
                    <a:pt x="629309" y="393066"/>
                    <a:pt x="622960" y="408394"/>
                    <a:pt x="611658" y="419696"/>
                  </a:cubicBezTo>
                  <a:cubicBezTo>
                    <a:pt x="600356" y="430998"/>
                    <a:pt x="585028" y="437347"/>
                    <a:pt x="569045" y="437347"/>
                  </a:cubicBezTo>
                  <a:lnTo>
                    <a:pt x="60264" y="437347"/>
                  </a:lnTo>
                  <a:cubicBezTo>
                    <a:pt x="26981" y="437347"/>
                    <a:pt x="0" y="410366"/>
                    <a:pt x="0" y="377083"/>
                  </a:cubicBezTo>
                  <a:lnTo>
                    <a:pt x="0" y="60264"/>
                  </a:lnTo>
                  <a:cubicBezTo>
                    <a:pt x="0" y="26981"/>
                    <a:pt x="26981" y="0"/>
                    <a:pt x="60264" y="0"/>
                  </a:cubicBezTo>
                  <a:lnTo>
                    <a:pt x="569045" y="0"/>
                  </a:lnTo>
                  <a:cubicBezTo>
                    <a:pt x="602328" y="0"/>
                    <a:pt x="629309" y="26981"/>
                    <a:pt x="629309" y="6026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29309" cy="437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11722" y="2526556"/>
            <a:ext cx="10567159" cy="7581936"/>
          </a:xfrm>
          <a:custGeom>
            <a:avLst/>
            <a:gdLst/>
            <a:ahLst/>
            <a:cxnLst/>
            <a:rect r="r" b="b" t="t" l="l"/>
            <a:pathLst>
              <a:path h="7581936" w="10567159">
                <a:moveTo>
                  <a:pt x="0" y="0"/>
                </a:moveTo>
                <a:lnTo>
                  <a:pt x="10567159" y="0"/>
                </a:lnTo>
                <a:lnTo>
                  <a:pt x="10567159" y="7581936"/>
                </a:lnTo>
                <a:lnTo>
                  <a:pt x="0" y="7581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134982" y="482348"/>
            <a:ext cx="1201803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4"/>
              </a:lnSpc>
            </a:pPr>
            <a:r>
              <a:rPr lang="en-US" sz="7499" i="true" spc="-29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NAVEGACIÓN DINÁMICA SPA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54123" y="1535956"/>
            <a:ext cx="399779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i="true" spc="-11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007172" y="0"/>
            <a:ext cx="1363818" cy="62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"/>
              </a:lnSpc>
            </a:pPr>
            <a:r>
              <a:rPr lang="en-US" sz="2077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492"/>
              </a:lnSpc>
            </a:pPr>
            <a:r>
              <a:rPr lang="en-US" sz="2077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08628" y="196220"/>
            <a:ext cx="531735" cy="531735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5477788" y="8979536"/>
            <a:ext cx="507415" cy="1868645"/>
            <a:chOff x="0" y="0"/>
            <a:chExt cx="297510" cy="1095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7510" cy="1095634"/>
            </a:xfrm>
            <a:custGeom>
              <a:avLst/>
              <a:gdLst/>
              <a:ahLst/>
              <a:cxnLst/>
              <a:rect r="r" b="b" t="t" l="l"/>
              <a:pathLst>
                <a:path h="1095634" w="297510">
                  <a:moveTo>
                    <a:pt x="0" y="0"/>
                  </a:moveTo>
                  <a:lnTo>
                    <a:pt x="297510" y="0"/>
                  </a:lnTo>
                  <a:lnTo>
                    <a:pt x="297510" y="1095634"/>
                  </a:lnTo>
                  <a:lnTo>
                    <a:pt x="0" y="109563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97510" cy="112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473673" y="8059841"/>
            <a:ext cx="3669910" cy="1686180"/>
            <a:chOff x="0" y="0"/>
            <a:chExt cx="7567307" cy="347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67307" cy="3476881"/>
            </a:xfrm>
            <a:custGeom>
              <a:avLst/>
              <a:gdLst/>
              <a:ahLst/>
              <a:cxnLst/>
              <a:rect r="r" b="b" t="t" l="l"/>
              <a:pathLst>
                <a:path h="3476881" w="7567307">
                  <a:moveTo>
                    <a:pt x="1964473" y="0"/>
                  </a:moveTo>
                  <a:lnTo>
                    <a:pt x="6927113" y="0"/>
                  </a:lnTo>
                  <a:cubicBezTo>
                    <a:pt x="7281263" y="0"/>
                    <a:pt x="7567307" y="218971"/>
                    <a:pt x="7567307" y="490077"/>
                  </a:cubicBezTo>
                  <a:lnTo>
                    <a:pt x="7567307" y="2249951"/>
                  </a:lnTo>
                  <a:cubicBezTo>
                    <a:pt x="7567307" y="2521057"/>
                    <a:pt x="7281263" y="2740028"/>
                    <a:pt x="6927113" y="2740028"/>
                  </a:cubicBezTo>
                  <a:lnTo>
                    <a:pt x="5661859" y="2740028"/>
                  </a:lnTo>
                  <a:cubicBezTo>
                    <a:pt x="5466623" y="2740028"/>
                    <a:pt x="5280467" y="2808384"/>
                    <a:pt x="5159390" y="2926558"/>
                  </a:cubicBezTo>
                  <a:lnTo>
                    <a:pt x="4782538" y="3290351"/>
                  </a:lnTo>
                  <a:cubicBezTo>
                    <a:pt x="4661461" y="3407367"/>
                    <a:pt x="4476819" y="3476881"/>
                    <a:pt x="4280069" y="3476881"/>
                  </a:cubicBezTo>
                  <a:lnTo>
                    <a:pt x="640194" y="3476881"/>
                  </a:lnTo>
                  <a:cubicBezTo>
                    <a:pt x="286044" y="3476881"/>
                    <a:pt x="0" y="3257911"/>
                    <a:pt x="0" y="2986804"/>
                  </a:cubicBezTo>
                  <a:lnTo>
                    <a:pt x="0" y="1254736"/>
                  </a:lnTo>
                  <a:cubicBezTo>
                    <a:pt x="0" y="1100646"/>
                    <a:pt x="93835" y="955824"/>
                    <a:pt x="254262" y="863138"/>
                  </a:cubicBezTo>
                  <a:lnTo>
                    <a:pt x="1578540" y="98479"/>
                  </a:lnTo>
                  <a:cubicBezTo>
                    <a:pt x="1689023" y="34757"/>
                    <a:pt x="1825235" y="0"/>
                    <a:pt x="196447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045" r="0" b="-3523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24980" y="295549"/>
            <a:ext cx="10299950" cy="174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sz="7062" i="true" spc="-282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LÓGICA DEL CARRITO Y ACUMULACIÓN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43691" y="196220"/>
            <a:ext cx="1166281" cy="53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131"/>
              </a:lnSpc>
            </a:pPr>
            <a:r>
              <a:rPr lang="en-US" sz="1776" spc="-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58342" y="2379072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Manejo de Arreglos y Objetos: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58342" y="2822115"/>
            <a:ext cx="485163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 función </a:t>
            </a:r>
            <a:r>
              <a:rPr lang="en-US" sz="2064" spc="-4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agregar( ) </a:t>
            </a: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almacena los elementos en la variable global </a:t>
            </a:r>
            <a:r>
              <a:rPr lang="en-US" sz="2064" spc="-4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carrito = [ ]</a:t>
            </a: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guardando nombre, precio y cantidad.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58342" y="6102966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Renderizado y Cálculo de Totales: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58342" y="6602516"/>
            <a:ext cx="485163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 función </a:t>
            </a:r>
            <a:r>
              <a:rPr lang="en-US" sz="2064" spc="-4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mostrar( )</a:t>
            </a: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recorre el arreglo con un bucle </a:t>
            </a:r>
            <a:r>
              <a:rPr lang="en-US" sz="2064" spc="-4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</a:t>
            </a: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, calcula los subtotales multiplicando precio por cantidad y actualiza el total acumulado en el HTML.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58342" y="4212765"/>
            <a:ext cx="4851630" cy="30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b="true" sz="2064" i="true" spc="-4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Agrupación Inteligente: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58342" y="4712316"/>
            <a:ext cx="485163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Usa el método </a:t>
            </a:r>
            <a:r>
              <a:rPr lang="en-US" sz="2064" spc="-4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.find()</a:t>
            </a:r>
            <a:r>
              <a:rPr lang="en-US" sz="2064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para verificar si un plato ya existe en el pedido; si existe, solo suma la cantidad en lugar de duplicarlo.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85809" y="1317138"/>
            <a:ext cx="3744565" cy="87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5668" i="true" spc="-11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0" y="3040628"/>
            <a:ext cx="13084230" cy="5577153"/>
          </a:xfrm>
          <a:custGeom>
            <a:avLst/>
            <a:gdLst/>
            <a:ahLst/>
            <a:cxnLst/>
            <a:rect r="r" b="b" t="t" l="l"/>
            <a:pathLst>
              <a:path h="5577153" w="13084230">
                <a:moveTo>
                  <a:pt x="0" y="0"/>
                </a:moveTo>
                <a:lnTo>
                  <a:pt x="13084230" y="0"/>
                </a:lnTo>
                <a:lnTo>
                  <a:pt x="13084230" y="5577153"/>
                </a:lnTo>
                <a:lnTo>
                  <a:pt x="0" y="5577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11722" y="163238"/>
            <a:ext cx="1805350" cy="2063258"/>
          </a:xfrm>
          <a:custGeom>
            <a:avLst/>
            <a:gdLst/>
            <a:ahLst/>
            <a:cxnLst/>
            <a:rect r="r" b="b" t="t" l="l"/>
            <a:pathLst>
              <a:path h="2063258" w="1805350">
                <a:moveTo>
                  <a:pt x="0" y="0"/>
                </a:moveTo>
                <a:lnTo>
                  <a:pt x="1805351" y="0"/>
                </a:lnTo>
                <a:lnTo>
                  <a:pt x="1805351" y="2063257"/>
                </a:lnTo>
                <a:lnTo>
                  <a:pt x="0" y="2063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59897" y="39303"/>
            <a:ext cx="558991" cy="558991"/>
            <a:chOff x="0" y="0"/>
            <a:chExt cx="647700" cy="647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8AB2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6259212" y="8296949"/>
            <a:ext cx="784169" cy="2685577"/>
            <a:chOff x="0" y="0"/>
            <a:chExt cx="448485" cy="15359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485" cy="1535945"/>
            </a:xfrm>
            <a:custGeom>
              <a:avLst/>
              <a:gdLst/>
              <a:ahLst/>
              <a:cxnLst/>
              <a:rect r="r" b="b" t="t" l="l"/>
              <a:pathLst>
                <a:path h="1535945" w="448485">
                  <a:moveTo>
                    <a:pt x="0" y="0"/>
                  </a:moveTo>
                  <a:lnTo>
                    <a:pt x="448485" y="0"/>
                  </a:lnTo>
                  <a:lnTo>
                    <a:pt x="448485" y="1535945"/>
                  </a:lnTo>
                  <a:lnTo>
                    <a:pt x="0" y="153594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48485" cy="156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308508" y="5774530"/>
            <a:ext cx="2685577" cy="3783568"/>
            <a:chOff x="0" y="0"/>
            <a:chExt cx="450723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059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50596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3"/>
              <a:stretch>
                <a:fillRect l="-55561" t="0" r="-5556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308508" y="8670005"/>
            <a:ext cx="334700" cy="334700"/>
          </a:xfrm>
          <a:custGeom>
            <a:avLst/>
            <a:gdLst/>
            <a:ahLst/>
            <a:cxnLst/>
            <a:rect r="r" b="b" t="t" l="l"/>
            <a:pathLst>
              <a:path h="334700" w="334700">
                <a:moveTo>
                  <a:pt x="0" y="0"/>
                </a:moveTo>
                <a:lnTo>
                  <a:pt x="334700" y="0"/>
                </a:lnTo>
                <a:lnTo>
                  <a:pt x="334700" y="334700"/>
                </a:lnTo>
                <a:lnTo>
                  <a:pt x="0" y="334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340488" y="3589328"/>
            <a:ext cx="2497715" cy="2386375"/>
            <a:chOff x="0" y="0"/>
            <a:chExt cx="769616" cy="735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9616" cy="735307"/>
            </a:xfrm>
            <a:custGeom>
              <a:avLst/>
              <a:gdLst/>
              <a:ahLst/>
              <a:cxnLst/>
              <a:rect r="r" b="b" t="t" l="l"/>
              <a:pathLst>
                <a:path h="735307" w="769616">
                  <a:moveTo>
                    <a:pt x="769616" y="158080"/>
                  </a:moveTo>
                  <a:lnTo>
                    <a:pt x="769616" y="577228"/>
                  </a:lnTo>
                  <a:cubicBezTo>
                    <a:pt x="769616" y="619153"/>
                    <a:pt x="752961" y="659361"/>
                    <a:pt x="723315" y="689007"/>
                  </a:cubicBezTo>
                  <a:cubicBezTo>
                    <a:pt x="693669" y="718653"/>
                    <a:pt x="653461" y="735307"/>
                    <a:pt x="611536" y="735307"/>
                  </a:cubicBezTo>
                  <a:lnTo>
                    <a:pt x="158080" y="735307"/>
                  </a:lnTo>
                  <a:cubicBezTo>
                    <a:pt x="70775" y="735307"/>
                    <a:pt x="0" y="664533"/>
                    <a:pt x="0" y="577228"/>
                  </a:cubicBezTo>
                  <a:lnTo>
                    <a:pt x="0" y="158080"/>
                  </a:lnTo>
                  <a:cubicBezTo>
                    <a:pt x="0" y="70775"/>
                    <a:pt x="70775" y="0"/>
                    <a:pt x="158080" y="0"/>
                  </a:cubicBezTo>
                  <a:lnTo>
                    <a:pt x="611536" y="0"/>
                  </a:lnTo>
                  <a:cubicBezTo>
                    <a:pt x="698841" y="0"/>
                    <a:pt x="769616" y="70775"/>
                    <a:pt x="769616" y="158080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69616" cy="73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40928" y="4755085"/>
            <a:ext cx="1778661" cy="1220618"/>
            <a:chOff x="0" y="0"/>
            <a:chExt cx="868700" cy="5961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8700" cy="596151"/>
            </a:xfrm>
            <a:custGeom>
              <a:avLst/>
              <a:gdLst/>
              <a:ahLst/>
              <a:cxnLst/>
              <a:rect r="r" b="b" t="t" l="l"/>
              <a:pathLst>
                <a:path h="596151" w="868700">
                  <a:moveTo>
                    <a:pt x="0" y="0"/>
                  </a:moveTo>
                  <a:lnTo>
                    <a:pt x="868700" y="0"/>
                  </a:lnTo>
                  <a:lnTo>
                    <a:pt x="868700" y="596151"/>
                  </a:lnTo>
                  <a:lnTo>
                    <a:pt x="0" y="596151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68700" cy="624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95664" y="2408782"/>
            <a:ext cx="3942539" cy="3564056"/>
            <a:chOff x="0" y="0"/>
            <a:chExt cx="6350000" cy="5740400"/>
          </a:xfrm>
        </p:grpSpPr>
        <p:sp>
          <p:nvSpPr>
            <p:cNvPr name="Freeform 19" id="19"/>
            <p:cNvSpPr/>
            <p:nvPr/>
          </p:nvSpPr>
          <p:spPr>
            <a:xfrm flipH="tru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6351270" y="542290"/>
                  </a:moveTo>
                  <a:lnTo>
                    <a:pt x="6351270" y="2392680"/>
                  </a:lnTo>
                  <a:cubicBezTo>
                    <a:pt x="6351270" y="2691130"/>
                    <a:pt x="6108700" y="2933700"/>
                    <a:pt x="5808980" y="2933700"/>
                  </a:cubicBezTo>
                  <a:lnTo>
                    <a:pt x="5203190" y="2933700"/>
                  </a:lnTo>
                  <a:cubicBezTo>
                    <a:pt x="4903470" y="2933700"/>
                    <a:pt x="4660900" y="3176270"/>
                    <a:pt x="4660900" y="3475990"/>
                  </a:cubicBezTo>
                  <a:lnTo>
                    <a:pt x="4660900" y="5199380"/>
                  </a:lnTo>
                  <a:cubicBezTo>
                    <a:pt x="4660900" y="5499100"/>
                    <a:pt x="4418330" y="5741670"/>
                    <a:pt x="4118610" y="5741670"/>
                  </a:cubicBezTo>
                  <a:lnTo>
                    <a:pt x="2752090" y="5741670"/>
                  </a:lnTo>
                  <a:cubicBezTo>
                    <a:pt x="2616200" y="5741670"/>
                    <a:pt x="2484120" y="5689600"/>
                    <a:pt x="2383790" y="5598160"/>
                  </a:cubicBezTo>
                  <a:lnTo>
                    <a:pt x="173990" y="3553460"/>
                  </a:lnTo>
                  <a:cubicBezTo>
                    <a:pt x="63500" y="3450590"/>
                    <a:pt x="0" y="3307080"/>
                    <a:pt x="0" y="3155950"/>
                  </a:cubicBezTo>
                  <a:lnTo>
                    <a:pt x="0" y="542290"/>
                  </a:lnTo>
                  <a:cubicBezTo>
                    <a:pt x="1270" y="242570"/>
                    <a:pt x="243840" y="0"/>
                    <a:pt x="543560" y="0"/>
                  </a:cubicBezTo>
                  <a:lnTo>
                    <a:pt x="5808980" y="0"/>
                  </a:lnTo>
                  <a:cubicBezTo>
                    <a:pt x="6108700" y="0"/>
                    <a:pt x="6351270" y="242570"/>
                    <a:pt x="6351270" y="542290"/>
                  </a:cubicBezTo>
                  <a:close/>
                </a:path>
              </a:pathLst>
            </a:custGeom>
            <a:blipFill>
              <a:blip r:embed="rId6"/>
              <a:stretch>
                <a:fillRect l="-17843" t="0" r="-17843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4209265" y="5430369"/>
            <a:ext cx="391938" cy="391938"/>
          </a:xfrm>
          <a:custGeom>
            <a:avLst/>
            <a:gdLst/>
            <a:ahLst/>
            <a:cxnLst/>
            <a:rect r="r" b="b" t="t" l="l"/>
            <a:pathLst>
              <a:path h="391938" w="391938">
                <a:moveTo>
                  <a:pt x="0" y="0"/>
                </a:moveTo>
                <a:lnTo>
                  <a:pt x="391938" y="0"/>
                </a:lnTo>
                <a:lnTo>
                  <a:pt x="391938" y="391938"/>
                </a:lnTo>
                <a:lnTo>
                  <a:pt x="0" y="391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8402" y="2728914"/>
            <a:ext cx="9754945" cy="6157809"/>
          </a:xfrm>
          <a:custGeom>
            <a:avLst/>
            <a:gdLst/>
            <a:ahLst/>
            <a:cxnLst/>
            <a:rect r="r" b="b" t="t" l="l"/>
            <a:pathLst>
              <a:path h="6157809" w="9754945">
                <a:moveTo>
                  <a:pt x="0" y="0"/>
                </a:moveTo>
                <a:lnTo>
                  <a:pt x="9754945" y="0"/>
                </a:lnTo>
                <a:lnTo>
                  <a:pt x="9754945" y="6157809"/>
                </a:lnTo>
                <a:lnTo>
                  <a:pt x="0" y="61578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8402" y="7579666"/>
            <a:ext cx="9754945" cy="1963183"/>
          </a:xfrm>
          <a:custGeom>
            <a:avLst/>
            <a:gdLst/>
            <a:ahLst/>
            <a:cxnLst/>
            <a:rect r="r" b="b" t="t" l="l"/>
            <a:pathLst>
              <a:path h="1963183" w="9754945">
                <a:moveTo>
                  <a:pt x="0" y="0"/>
                </a:moveTo>
                <a:lnTo>
                  <a:pt x="9754945" y="0"/>
                </a:lnTo>
                <a:lnTo>
                  <a:pt x="9754945" y="1963183"/>
                </a:lnTo>
                <a:lnTo>
                  <a:pt x="0" y="19631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480256" y="317173"/>
            <a:ext cx="7945803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6000" i="true" spc="-240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CIERRE DE CATÁLOGO Y MENÚ DE BEBIDAS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05099" y="2826099"/>
            <a:ext cx="2892394" cy="237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7"/>
              </a:lnSpc>
            </a:pPr>
            <a:r>
              <a:rPr lang="en-US" sz="7823" i="true" spc="-15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PUNTOS CLAVE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57172" y="6175410"/>
            <a:ext cx="434806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b="true" sz="1717" i="true" spc="-34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Códigos Correlativos Autogenerados: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57172" y="6503997"/>
            <a:ext cx="512794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7"/>
              </a:lnSpc>
            </a:pP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 función </a:t>
            </a:r>
            <a:r>
              <a:rPr lang="en-US" sz="1722" spc="-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mostrarCodigo( )</a:t>
            </a: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usa </a:t>
            </a:r>
            <a:r>
              <a:rPr lang="en-US" sz="1722" spc="-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padStart(4, "0") </a:t>
            </a: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 formatear el código de cliente en formato de 4 dígitos </a:t>
            </a:r>
            <a:r>
              <a:rPr lang="en-US" sz="1722" spc="-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(CLI-0001, CLI-0002).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57172" y="7418665"/>
            <a:ext cx="359448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b="true" sz="1717" i="true" spc="-34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Validación de Datos en Pantalla: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56953" y="7742515"/>
            <a:ext cx="512794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7"/>
              </a:lnSpc>
            </a:pP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 función </a:t>
            </a:r>
            <a:r>
              <a:rPr lang="en-US" sz="1722" spc="-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confirmar( )</a:t>
            </a: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valida mediante condicionales i</a:t>
            </a:r>
            <a:r>
              <a:rPr lang="en-US" sz="1722" spc="-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</a:t>
            </a: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que el cliente haya escrito su nombre y que el carrito no esté vacío antes de procesar la compra.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57172" y="8891852"/>
            <a:ext cx="301866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b="true" sz="1717" i="true" spc="-34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Reinicio de Estado: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56953" y="9215702"/>
            <a:ext cx="512794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7"/>
              </a:lnSpc>
            </a:pP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Vacía el arreglo </a:t>
            </a:r>
            <a:r>
              <a:rPr lang="en-US" sz="1722" spc="-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carrito = [ ]</a:t>
            </a: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, reinicia el total a cero y activa el botón </a:t>
            </a:r>
            <a:r>
              <a:rPr lang="en-US" sz="1722" spc="-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#btnOtro</a:t>
            </a: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mediante la función </a:t>
            </a:r>
            <a:r>
              <a:rPr lang="en-US" sz="1722" spc="-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otroPedido( )</a:t>
            </a:r>
            <a:r>
              <a:rPr lang="en-US" sz="1722" spc="-3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para habilitar un nuevo formulario limpio.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032638" y="39303"/>
            <a:ext cx="1226065" cy="5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867" spc="-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Fuego &amp;</a:t>
            </a:r>
          </a:p>
          <a:p>
            <a:pPr algn="l">
              <a:lnSpc>
                <a:spcPts val="2240"/>
              </a:lnSpc>
            </a:pPr>
            <a:r>
              <a:rPr lang="en-US" sz="1867" spc="-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Sazón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411722" y="163238"/>
            <a:ext cx="1805350" cy="2063258"/>
          </a:xfrm>
          <a:custGeom>
            <a:avLst/>
            <a:gdLst/>
            <a:ahLst/>
            <a:cxnLst/>
            <a:rect r="r" b="b" t="t" l="l"/>
            <a:pathLst>
              <a:path h="2063258" w="1805350">
                <a:moveTo>
                  <a:pt x="0" y="0"/>
                </a:moveTo>
                <a:lnTo>
                  <a:pt x="1805351" y="0"/>
                </a:lnTo>
                <a:lnTo>
                  <a:pt x="1805351" y="2063257"/>
                </a:lnTo>
                <a:lnTo>
                  <a:pt x="0" y="2063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3269" y="3465885"/>
            <a:ext cx="16230600" cy="3146795"/>
            <a:chOff x="0" y="0"/>
            <a:chExt cx="2696887" cy="522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96887" cy="522873"/>
            </a:xfrm>
            <a:custGeom>
              <a:avLst/>
              <a:gdLst/>
              <a:ahLst/>
              <a:cxnLst/>
              <a:rect r="r" b="b" t="t" l="l"/>
              <a:pathLst>
                <a:path h="522873" w="2696887">
                  <a:moveTo>
                    <a:pt x="2696887" y="24327"/>
                  </a:moveTo>
                  <a:lnTo>
                    <a:pt x="2696887" y="498546"/>
                  </a:lnTo>
                  <a:cubicBezTo>
                    <a:pt x="2696887" y="511981"/>
                    <a:pt x="2685995" y="522873"/>
                    <a:pt x="2672560" y="522873"/>
                  </a:cubicBezTo>
                  <a:lnTo>
                    <a:pt x="24327" y="522873"/>
                  </a:lnTo>
                  <a:cubicBezTo>
                    <a:pt x="10891" y="522873"/>
                    <a:pt x="0" y="511981"/>
                    <a:pt x="0" y="4985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lnTo>
                    <a:pt x="2672560" y="0"/>
                  </a:lnTo>
                  <a:cubicBezTo>
                    <a:pt x="2685995" y="0"/>
                    <a:pt x="2696887" y="10891"/>
                    <a:pt x="2696887" y="2432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696887" cy="522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3269" y="3960525"/>
            <a:ext cx="2556436" cy="2157516"/>
            <a:chOff x="0" y="0"/>
            <a:chExt cx="673300" cy="568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3300" cy="568235"/>
            </a:xfrm>
            <a:custGeom>
              <a:avLst/>
              <a:gdLst/>
              <a:ahLst/>
              <a:cxnLst/>
              <a:rect r="r" b="b" t="t" l="l"/>
              <a:pathLst>
                <a:path h="568235" w="673300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57259" y="4176342"/>
            <a:ext cx="12717991" cy="212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70"/>
              </a:lnSpc>
            </a:pPr>
            <a:r>
              <a:rPr lang="en-US" sz="16706" i="true" spc="-66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MUCHAS GRACIAS</a:t>
            </a:r>
          </a:p>
        </p:txBody>
      </p:sp>
      <p:grpSp>
        <p:nvGrpSpPr>
          <p:cNvPr name="Group 10" id="10"/>
          <p:cNvGrpSpPr/>
          <p:nvPr/>
        </p:nvGrpSpPr>
        <p:grpSpPr>
          <a:xfrm rot="-10800000">
            <a:off x="14809734" y="3960525"/>
            <a:ext cx="2556436" cy="2157516"/>
            <a:chOff x="0" y="0"/>
            <a:chExt cx="673300" cy="568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3300" cy="568235"/>
            </a:xfrm>
            <a:custGeom>
              <a:avLst/>
              <a:gdLst/>
              <a:ahLst/>
              <a:cxnLst/>
              <a:rect r="r" b="b" t="t" l="l"/>
              <a:pathLst>
                <a:path h="568235" w="673300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DAHWEq1jlBY</dc:identifier>
  <dcterms:modified xsi:type="dcterms:W3CDTF">2011-08-01T06:04:30Z</dcterms:modified>
  <cp:revision>1</cp:revision>
  <dc:title>Programacion WEB</dc:title>
</cp:coreProperties>
</file>